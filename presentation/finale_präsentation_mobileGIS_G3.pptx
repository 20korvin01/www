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20"/>
  </p:notesMasterIdLst>
  <p:sldIdLst>
    <p:sldId id="347" r:id="rId3"/>
    <p:sldId id="355" r:id="rId4"/>
    <p:sldId id="349" r:id="rId5"/>
    <p:sldId id="350" r:id="rId6"/>
    <p:sldId id="351" r:id="rId7"/>
    <p:sldId id="352" r:id="rId8"/>
    <p:sldId id="357" r:id="rId9"/>
    <p:sldId id="356" r:id="rId10"/>
    <p:sldId id="354" r:id="rId11"/>
    <p:sldId id="303" r:id="rId12"/>
    <p:sldId id="259" r:id="rId13"/>
    <p:sldId id="261" r:id="rId14"/>
    <p:sldId id="304" r:id="rId15"/>
    <p:sldId id="311" r:id="rId16"/>
    <p:sldId id="345" r:id="rId17"/>
    <p:sldId id="318" r:id="rId18"/>
    <p:sldId id="307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2A189"/>
    <a:srgbClr val="DF0F0F"/>
    <a:srgbClr val="7F7F7F"/>
    <a:srgbClr val="060606"/>
    <a:srgbClr val="1F14B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6662" autoAdjust="0"/>
  </p:normalViewPr>
  <p:slideViewPr>
    <p:cSldViewPr snapToGrid="0">
      <p:cViewPr varScale="1">
        <p:scale>
          <a:sx n="87" d="100"/>
          <a:sy n="87" d="100"/>
        </p:scale>
        <p:origin x="51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5EF325-3217-488D-A23E-92AEAE00FA3F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41FFCBC-5507-4028-B08C-3E7EF0944A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App idea</a:t>
          </a:r>
          <a:endParaRPr lang="en-US" dirty="0"/>
        </a:p>
      </dgm:t>
    </dgm:pt>
    <dgm:pt modelId="{CD1DEE10-EF96-461C-B343-4CF836684184}" type="parTrans" cxnId="{827EFEFB-E152-4DBC-BE1A-437B5B4B46FF}">
      <dgm:prSet/>
      <dgm:spPr/>
      <dgm:t>
        <a:bodyPr/>
        <a:lstStyle/>
        <a:p>
          <a:endParaRPr lang="en-US"/>
        </a:p>
      </dgm:t>
    </dgm:pt>
    <dgm:pt modelId="{8A6F6947-59BC-40AD-A7DD-6E0A0D2683B0}" type="sibTrans" cxnId="{827EFEFB-E152-4DBC-BE1A-437B5B4B46FF}">
      <dgm:prSet/>
      <dgm:spPr/>
      <dgm:t>
        <a:bodyPr/>
        <a:lstStyle/>
        <a:p>
          <a:endParaRPr lang="en-US"/>
        </a:p>
      </dgm:t>
    </dgm:pt>
    <dgm:pt modelId="{E85E4EA0-87A9-45AD-BC58-06329331A83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General information </a:t>
          </a:r>
          <a:endParaRPr lang="en-US" dirty="0"/>
        </a:p>
      </dgm:t>
    </dgm:pt>
    <dgm:pt modelId="{45DC7763-21E2-40B3-8C91-1C9479012044}" type="parTrans" cxnId="{367DE805-1EC0-4EE7-AAD6-A05206AF7C05}">
      <dgm:prSet/>
      <dgm:spPr/>
      <dgm:t>
        <a:bodyPr/>
        <a:lstStyle/>
        <a:p>
          <a:endParaRPr lang="en-US"/>
        </a:p>
      </dgm:t>
    </dgm:pt>
    <dgm:pt modelId="{67256DF7-898E-4929-9E52-85864EC21201}" type="sibTrans" cxnId="{367DE805-1EC0-4EE7-AAD6-A05206AF7C05}">
      <dgm:prSet/>
      <dgm:spPr/>
      <dgm:t>
        <a:bodyPr/>
        <a:lstStyle/>
        <a:p>
          <a:endParaRPr lang="en-US"/>
        </a:p>
      </dgm:t>
    </dgm:pt>
    <dgm:pt modelId="{80DD0AFA-AD2D-402E-8A67-AB4D7982ED2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Database</a:t>
          </a:r>
          <a:endParaRPr lang="en-US"/>
        </a:p>
      </dgm:t>
    </dgm:pt>
    <dgm:pt modelId="{6FD7348F-1B58-4D2F-9D8B-7D0BF785F4EF}" type="parTrans" cxnId="{D6F02A6D-D314-4E22-BC53-D6858400770D}">
      <dgm:prSet/>
      <dgm:spPr/>
      <dgm:t>
        <a:bodyPr/>
        <a:lstStyle/>
        <a:p>
          <a:endParaRPr lang="en-US"/>
        </a:p>
      </dgm:t>
    </dgm:pt>
    <dgm:pt modelId="{4C9A4B17-5F45-4A18-9202-47978421017F}" type="sibTrans" cxnId="{D6F02A6D-D314-4E22-BC53-D6858400770D}">
      <dgm:prSet/>
      <dgm:spPr/>
      <dgm:t>
        <a:bodyPr/>
        <a:lstStyle/>
        <a:p>
          <a:endParaRPr lang="en-US"/>
        </a:p>
      </dgm:t>
    </dgm:pt>
    <dgm:pt modelId="{C90FEF22-BE49-46B7-A174-5137F2FFA02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 features</a:t>
          </a:r>
          <a:endParaRPr lang="en-US"/>
        </a:p>
      </dgm:t>
    </dgm:pt>
    <dgm:pt modelId="{8583B982-54B8-4BEC-B97E-FFD475518885}" type="parTrans" cxnId="{57E0CA2E-3172-4477-BE8C-711844EDB48F}">
      <dgm:prSet/>
      <dgm:spPr/>
      <dgm:t>
        <a:bodyPr/>
        <a:lstStyle/>
        <a:p>
          <a:endParaRPr lang="en-US"/>
        </a:p>
      </dgm:t>
    </dgm:pt>
    <dgm:pt modelId="{2B8A0B72-9366-4243-870C-0F841DEF2851}" type="sibTrans" cxnId="{57E0CA2E-3172-4477-BE8C-711844EDB48F}">
      <dgm:prSet/>
      <dgm:spPr/>
      <dgm:t>
        <a:bodyPr/>
        <a:lstStyle/>
        <a:p>
          <a:endParaRPr lang="en-US"/>
        </a:p>
      </dgm:t>
    </dgm:pt>
    <dgm:pt modelId="{F8FF6D0C-BFCF-4279-A38F-9EAB6EA92F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Summary</a:t>
          </a:r>
          <a:endParaRPr lang="en-US"/>
        </a:p>
      </dgm:t>
    </dgm:pt>
    <dgm:pt modelId="{71A00A81-F023-4700-9EFB-CA4B15579A74}" type="parTrans" cxnId="{176C1D61-A22E-4640-ABAB-C255C3E75D65}">
      <dgm:prSet/>
      <dgm:spPr/>
      <dgm:t>
        <a:bodyPr/>
        <a:lstStyle/>
        <a:p>
          <a:endParaRPr lang="en-US"/>
        </a:p>
      </dgm:t>
    </dgm:pt>
    <dgm:pt modelId="{879E083E-6A87-417F-95FC-CBBE53A77FB7}" type="sibTrans" cxnId="{176C1D61-A22E-4640-ABAB-C255C3E75D65}">
      <dgm:prSet/>
      <dgm:spPr/>
      <dgm:t>
        <a:bodyPr/>
        <a:lstStyle/>
        <a:p>
          <a:endParaRPr lang="en-US"/>
        </a:p>
      </dgm:t>
    </dgm:pt>
    <dgm:pt modelId="{D2DA497C-1A48-43E0-9D56-1375624B9EB9}" type="pres">
      <dgm:prSet presAssocID="{6C5EF325-3217-488D-A23E-92AEAE00FA3F}" presName="root" presStyleCnt="0">
        <dgm:presLayoutVars>
          <dgm:dir/>
          <dgm:resizeHandles val="exact"/>
        </dgm:presLayoutVars>
      </dgm:prSet>
      <dgm:spPr/>
    </dgm:pt>
    <dgm:pt modelId="{1D82D69C-3AE0-4977-B409-02E48B968F48}" type="pres">
      <dgm:prSet presAssocID="{B41FFCBC-5507-4028-B08C-3E7EF0944A92}" presName="compNode" presStyleCnt="0"/>
      <dgm:spPr/>
    </dgm:pt>
    <dgm:pt modelId="{A6A258D3-3996-4CB3-8D88-1A8E3FA224EA}" type="pres">
      <dgm:prSet presAssocID="{B41FFCBC-5507-4028-B08C-3E7EF0944A9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rgbClr val="FFFFFF"/>
          </a:solidFill>
        </a:ln>
      </dgm:spPr>
    </dgm:pt>
    <dgm:pt modelId="{7604AE97-1652-4792-9063-A47DF631F527}" type="pres">
      <dgm:prSet presAssocID="{B41FFCBC-5507-4028-B08C-3E7EF0944A92}" presName="spaceRect" presStyleCnt="0"/>
      <dgm:spPr/>
    </dgm:pt>
    <dgm:pt modelId="{0428BB5A-8069-453E-8901-B340AF908323}" type="pres">
      <dgm:prSet presAssocID="{B41FFCBC-5507-4028-B08C-3E7EF0944A92}" presName="textRect" presStyleLbl="revTx" presStyleIdx="0" presStyleCnt="5">
        <dgm:presLayoutVars>
          <dgm:chMax val="1"/>
          <dgm:chPref val="1"/>
        </dgm:presLayoutVars>
      </dgm:prSet>
      <dgm:spPr/>
    </dgm:pt>
    <dgm:pt modelId="{06097FE9-33FC-489E-869B-0EF6606C23F9}" type="pres">
      <dgm:prSet presAssocID="{8A6F6947-59BC-40AD-A7DD-6E0A0D2683B0}" presName="sibTrans" presStyleCnt="0"/>
      <dgm:spPr/>
    </dgm:pt>
    <dgm:pt modelId="{D9339B54-353D-4540-902D-E9CBA242FD77}" type="pres">
      <dgm:prSet presAssocID="{E85E4EA0-87A9-45AD-BC58-06329331A83C}" presName="compNode" presStyleCnt="0"/>
      <dgm:spPr/>
    </dgm:pt>
    <dgm:pt modelId="{6817D11B-1074-4E4A-B02A-073295E80F87}" type="pres">
      <dgm:prSet presAssocID="{E85E4EA0-87A9-45AD-BC58-06329331A8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rgbClr val="FFFFFF"/>
          </a:solidFill>
        </a:ln>
      </dgm:spPr>
      <dgm:extLst>
        <a:ext uri="{E40237B7-FDA0-4F09-8148-C483321AD2D9}">
          <dgm14:cNvPr xmlns:dgm14="http://schemas.microsoft.com/office/drawing/2010/diagram" id="0" name="" descr="Informationen"/>
        </a:ext>
      </dgm:extLst>
    </dgm:pt>
    <dgm:pt modelId="{0ABE0718-42FF-4B9E-B087-4B1384E1010A}" type="pres">
      <dgm:prSet presAssocID="{E85E4EA0-87A9-45AD-BC58-06329331A83C}" presName="spaceRect" presStyleCnt="0"/>
      <dgm:spPr/>
    </dgm:pt>
    <dgm:pt modelId="{FF3015DC-2D9F-4D3F-8D14-9D09D9B19AD7}" type="pres">
      <dgm:prSet presAssocID="{E85E4EA0-87A9-45AD-BC58-06329331A83C}" presName="textRect" presStyleLbl="revTx" presStyleIdx="1" presStyleCnt="5">
        <dgm:presLayoutVars>
          <dgm:chMax val="1"/>
          <dgm:chPref val="1"/>
        </dgm:presLayoutVars>
      </dgm:prSet>
      <dgm:spPr/>
    </dgm:pt>
    <dgm:pt modelId="{4955B395-F0FC-4EB0-BAA4-AF65077894D4}" type="pres">
      <dgm:prSet presAssocID="{67256DF7-898E-4929-9E52-85864EC21201}" presName="sibTrans" presStyleCnt="0"/>
      <dgm:spPr/>
    </dgm:pt>
    <dgm:pt modelId="{92BBEF3B-E16E-4C7F-8C05-44A1ADEA6CA8}" type="pres">
      <dgm:prSet presAssocID="{80DD0AFA-AD2D-402E-8A67-AB4D7982ED29}" presName="compNode" presStyleCnt="0"/>
      <dgm:spPr/>
    </dgm:pt>
    <dgm:pt modelId="{DA50DBEE-D349-41A6-A97B-05DC2C90F11A}" type="pres">
      <dgm:prSet presAssocID="{80DD0AFA-AD2D-402E-8A67-AB4D7982ED2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solidFill>
            <a:srgbClr val="FFFFFF"/>
          </a:solidFill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43A4C673-57D7-41D8-BC71-030A40F239E8}" type="pres">
      <dgm:prSet presAssocID="{80DD0AFA-AD2D-402E-8A67-AB4D7982ED29}" presName="spaceRect" presStyleCnt="0"/>
      <dgm:spPr/>
    </dgm:pt>
    <dgm:pt modelId="{2CC97008-28E5-49E5-9B17-11893CD68F63}" type="pres">
      <dgm:prSet presAssocID="{80DD0AFA-AD2D-402E-8A67-AB4D7982ED29}" presName="textRect" presStyleLbl="revTx" presStyleIdx="2" presStyleCnt="5">
        <dgm:presLayoutVars>
          <dgm:chMax val="1"/>
          <dgm:chPref val="1"/>
        </dgm:presLayoutVars>
      </dgm:prSet>
      <dgm:spPr/>
    </dgm:pt>
    <dgm:pt modelId="{CA1DDA9D-0826-4C4E-A613-4FFC3E83F388}" type="pres">
      <dgm:prSet presAssocID="{4C9A4B17-5F45-4A18-9202-47978421017F}" presName="sibTrans" presStyleCnt="0"/>
      <dgm:spPr/>
    </dgm:pt>
    <dgm:pt modelId="{99DAFD5E-A426-4E4D-808D-6DE69793881D}" type="pres">
      <dgm:prSet presAssocID="{C90FEF22-BE49-46B7-A174-5137F2FFA021}" presName="compNode" presStyleCnt="0"/>
      <dgm:spPr/>
    </dgm:pt>
    <dgm:pt modelId="{71D0E775-1710-4594-BDF1-A1EC8E3F48E5}" type="pres">
      <dgm:prSet presAssocID="{C90FEF22-BE49-46B7-A174-5137F2FFA02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solidFill>
            <a:srgbClr val="FFFFFF"/>
          </a:solidFill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DFC621A-F53A-461C-ACA2-CCEE3745816B}" type="pres">
      <dgm:prSet presAssocID="{C90FEF22-BE49-46B7-A174-5137F2FFA021}" presName="spaceRect" presStyleCnt="0"/>
      <dgm:spPr/>
    </dgm:pt>
    <dgm:pt modelId="{5F15B115-390D-4B46-A78E-C66292FF4B23}" type="pres">
      <dgm:prSet presAssocID="{C90FEF22-BE49-46B7-A174-5137F2FFA021}" presName="textRect" presStyleLbl="revTx" presStyleIdx="3" presStyleCnt="5">
        <dgm:presLayoutVars>
          <dgm:chMax val="1"/>
          <dgm:chPref val="1"/>
        </dgm:presLayoutVars>
      </dgm:prSet>
      <dgm:spPr/>
    </dgm:pt>
    <dgm:pt modelId="{670355E6-AD0B-41A7-9B67-B7ED4618F4A6}" type="pres">
      <dgm:prSet presAssocID="{2B8A0B72-9366-4243-870C-0F841DEF2851}" presName="sibTrans" presStyleCnt="0"/>
      <dgm:spPr/>
    </dgm:pt>
    <dgm:pt modelId="{4A7E1E0B-7109-409D-BAF8-DFEF5BFEF499}" type="pres">
      <dgm:prSet presAssocID="{F8FF6D0C-BFCF-4279-A38F-9EAB6EA92F63}" presName="compNode" presStyleCnt="0"/>
      <dgm:spPr/>
    </dgm:pt>
    <dgm:pt modelId="{444DA415-2F2C-427A-B532-1AEF1F2D625B}" type="pres">
      <dgm:prSet presAssocID="{F8FF6D0C-BFCF-4279-A38F-9EAB6EA92F6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solidFill>
            <a:srgbClr val="FFFFFF"/>
          </a:solidFill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76485741-06D4-431C-8281-EE068A9D023D}" type="pres">
      <dgm:prSet presAssocID="{F8FF6D0C-BFCF-4279-A38F-9EAB6EA92F63}" presName="spaceRect" presStyleCnt="0"/>
      <dgm:spPr/>
    </dgm:pt>
    <dgm:pt modelId="{76995FB4-971C-45AE-A866-5D7B91D6BC59}" type="pres">
      <dgm:prSet presAssocID="{F8FF6D0C-BFCF-4279-A38F-9EAB6EA92F6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67DE805-1EC0-4EE7-AAD6-A05206AF7C05}" srcId="{6C5EF325-3217-488D-A23E-92AEAE00FA3F}" destId="{E85E4EA0-87A9-45AD-BC58-06329331A83C}" srcOrd="1" destOrd="0" parTransId="{45DC7763-21E2-40B3-8C91-1C9479012044}" sibTransId="{67256DF7-898E-4929-9E52-85864EC21201}"/>
    <dgm:cxn modelId="{57E0CA2E-3172-4477-BE8C-711844EDB48F}" srcId="{6C5EF325-3217-488D-A23E-92AEAE00FA3F}" destId="{C90FEF22-BE49-46B7-A174-5137F2FFA021}" srcOrd="3" destOrd="0" parTransId="{8583B982-54B8-4BEC-B97E-FFD475518885}" sibTransId="{2B8A0B72-9366-4243-870C-0F841DEF2851}"/>
    <dgm:cxn modelId="{3565D335-796D-438C-A851-475462BDCA13}" type="presOf" srcId="{E85E4EA0-87A9-45AD-BC58-06329331A83C}" destId="{FF3015DC-2D9F-4D3F-8D14-9D09D9B19AD7}" srcOrd="0" destOrd="0" presId="urn:microsoft.com/office/officeart/2018/2/layout/IconLabelList"/>
    <dgm:cxn modelId="{A898803E-A51F-4F94-8D94-BC3675BF6861}" type="presOf" srcId="{F8FF6D0C-BFCF-4279-A38F-9EAB6EA92F63}" destId="{76995FB4-971C-45AE-A866-5D7B91D6BC59}" srcOrd="0" destOrd="0" presId="urn:microsoft.com/office/officeart/2018/2/layout/IconLabelList"/>
    <dgm:cxn modelId="{176C1D61-A22E-4640-ABAB-C255C3E75D65}" srcId="{6C5EF325-3217-488D-A23E-92AEAE00FA3F}" destId="{F8FF6D0C-BFCF-4279-A38F-9EAB6EA92F63}" srcOrd="4" destOrd="0" parTransId="{71A00A81-F023-4700-9EFB-CA4B15579A74}" sibTransId="{879E083E-6A87-417F-95FC-CBBE53A77FB7}"/>
    <dgm:cxn modelId="{D6F02A6D-D314-4E22-BC53-D6858400770D}" srcId="{6C5EF325-3217-488D-A23E-92AEAE00FA3F}" destId="{80DD0AFA-AD2D-402E-8A67-AB4D7982ED29}" srcOrd="2" destOrd="0" parTransId="{6FD7348F-1B58-4D2F-9D8B-7D0BF785F4EF}" sibTransId="{4C9A4B17-5F45-4A18-9202-47978421017F}"/>
    <dgm:cxn modelId="{50605A98-8328-492B-9700-C6CB69558C8B}" type="presOf" srcId="{80DD0AFA-AD2D-402E-8A67-AB4D7982ED29}" destId="{2CC97008-28E5-49E5-9B17-11893CD68F63}" srcOrd="0" destOrd="0" presId="urn:microsoft.com/office/officeart/2018/2/layout/IconLabelList"/>
    <dgm:cxn modelId="{D9252AA5-4F3E-4E95-B407-EA26B54094CF}" type="presOf" srcId="{B41FFCBC-5507-4028-B08C-3E7EF0944A92}" destId="{0428BB5A-8069-453E-8901-B340AF908323}" srcOrd="0" destOrd="0" presId="urn:microsoft.com/office/officeart/2018/2/layout/IconLabelList"/>
    <dgm:cxn modelId="{3D7E5EA5-EFAE-499F-9EF7-A56486CEEB42}" type="presOf" srcId="{6C5EF325-3217-488D-A23E-92AEAE00FA3F}" destId="{D2DA497C-1A48-43E0-9D56-1375624B9EB9}" srcOrd="0" destOrd="0" presId="urn:microsoft.com/office/officeart/2018/2/layout/IconLabelList"/>
    <dgm:cxn modelId="{03E574B9-B381-4471-9C21-5B24A4E6BC8C}" type="presOf" srcId="{C90FEF22-BE49-46B7-A174-5137F2FFA021}" destId="{5F15B115-390D-4B46-A78E-C66292FF4B23}" srcOrd="0" destOrd="0" presId="urn:microsoft.com/office/officeart/2018/2/layout/IconLabelList"/>
    <dgm:cxn modelId="{827EFEFB-E152-4DBC-BE1A-437B5B4B46FF}" srcId="{6C5EF325-3217-488D-A23E-92AEAE00FA3F}" destId="{B41FFCBC-5507-4028-B08C-3E7EF0944A92}" srcOrd="0" destOrd="0" parTransId="{CD1DEE10-EF96-461C-B343-4CF836684184}" sibTransId="{8A6F6947-59BC-40AD-A7DD-6E0A0D2683B0}"/>
    <dgm:cxn modelId="{946E4130-1FE3-46A5-AC94-0C5E8C8695F5}" type="presParOf" srcId="{D2DA497C-1A48-43E0-9D56-1375624B9EB9}" destId="{1D82D69C-3AE0-4977-B409-02E48B968F48}" srcOrd="0" destOrd="0" presId="urn:microsoft.com/office/officeart/2018/2/layout/IconLabelList"/>
    <dgm:cxn modelId="{CB1C106B-C374-416A-9A2D-B74A0BE20521}" type="presParOf" srcId="{1D82D69C-3AE0-4977-B409-02E48B968F48}" destId="{A6A258D3-3996-4CB3-8D88-1A8E3FA224EA}" srcOrd="0" destOrd="0" presId="urn:microsoft.com/office/officeart/2018/2/layout/IconLabelList"/>
    <dgm:cxn modelId="{349629DF-4DBA-4D1F-ABF1-D3710D213D29}" type="presParOf" srcId="{1D82D69C-3AE0-4977-B409-02E48B968F48}" destId="{7604AE97-1652-4792-9063-A47DF631F527}" srcOrd="1" destOrd="0" presId="urn:microsoft.com/office/officeart/2018/2/layout/IconLabelList"/>
    <dgm:cxn modelId="{D79B12F5-C6F1-4214-93DE-55F5370E8786}" type="presParOf" srcId="{1D82D69C-3AE0-4977-B409-02E48B968F48}" destId="{0428BB5A-8069-453E-8901-B340AF908323}" srcOrd="2" destOrd="0" presId="urn:microsoft.com/office/officeart/2018/2/layout/IconLabelList"/>
    <dgm:cxn modelId="{05EA8FDA-ADC6-4DCE-8CE3-45D73EE4728C}" type="presParOf" srcId="{D2DA497C-1A48-43E0-9D56-1375624B9EB9}" destId="{06097FE9-33FC-489E-869B-0EF6606C23F9}" srcOrd="1" destOrd="0" presId="urn:microsoft.com/office/officeart/2018/2/layout/IconLabelList"/>
    <dgm:cxn modelId="{0EA32AAA-25B4-40CB-96A2-0A2835AD9DE2}" type="presParOf" srcId="{D2DA497C-1A48-43E0-9D56-1375624B9EB9}" destId="{D9339B54-353D-4540-902D-E9CBA242FD77}" srcOrd="2" destOrd="0" presId="urn:microsoft.com/office/officeart/2018/2/layout/IconLabelList"/>
    <dgm:cxn modelId="{DAC88DB2-74C1-48B7-BB17-A37EECACFCD3}" type="presParOf" srcId="{D9339B54-353D-4540-902D-E9CBA242FD77}" destId="{6817D11B-1074-4E4A-B02A-073295E80F87}" srcOrd="0" destOrd="0" presId="urn:microsoft.com/office/officeart/2018/2/layout/IconLabelList"/>
    <dgm:cxn modelId="{59451F2F-BF4B-46C2-A6DF-F9E0874F4A71}" type="presParOf" srcId="{D9339B54-353D-4540-902D-E9CBA242FD77}" destId="{0ABE0718-42FF-4B9E-B087-4B1384E1010A}" srcOrd="1" destOrd="0" presId="urn:microsoft.com/office/officeart/2018/2/layout/IconLabelList"/>
    <dgm:cxn modelId="{7FDEA30D-E652-4D55-9A0B-B12502F4607F}" type="presParOf" srcId="{D9339B54-353D-4540-902D-E9CBA242FD77}" destId="{FF3015DC-2D9F-4D3F-8D14-9D09D9B19AD7}" srcOrd="2" destOrd="0" presId="urn:microsoft.com/office/officeart/2018/2/layout/IconLabelList"/>
    <dgm:cxn modelId="{DAC08D1C-F937-4DE2-B5EB-E56F63A58576}" type="presParOf" srcId="{D2DA497C-1A48-43E0-9D56-1375624B9EB9}" destId="{4955B395-F0FC-4EB0-BAA4-AF65077894D4}" srcOrd="3" destOrd="0" presId="urn:microsoft.com/office/officeart/2018/2/layout/IconLabelList"/>
    <dgm:cxn modelId="{75D141EB-28A5-4ED7-A5AD-F29B9ECE1187}" type="presParOf" srcId="{D2DA497C-1A48-43E0-9D56-1375624B9EB9}" destId="{92BBEF3B-E16E-4C7F-8C05-44A1ADEA6CA8}" srcOrd="4" destOrd="0" presId="urn:microsoft.com/office/officeart/2018/2/layout/IconLabelList"/>
    <dgm:cxn modelId="{77FB6196-60F4-44C4-9440-7C563AC79191}" type="presParOf" srcId="{92BBEF3B-E16E-4C7F-8C05-44A1ADEA6CA8}" destId="{DA50DBEE-D349-41A6-A97B-05DC2C90F11A}" srcOrd="0" destOrd="0" presId="urn:microsoft.com/office/officeart/2018/2/layout/IconLabelList"/>
    <dgm:cxn modelId="{64C43D40-6B64-4CDD-A84D-BC2A9021C4C9}" type="presParOf" srcId="{92BBEF3B-E16E-4C7F-8C05-44A1ADEA6CA8}" destId="{43A4C673-57D7-41D8-BC71-030A40F239E8}" srcOrd="1" destOrd="0" presId="urn:microsoft.com/office/officeart/2018/2/layout/IconLabelList"/>
    <dgm:cxn modelId="{0345AC0A-437D-476F-83D5-9E5752F0AF61}" type="presParOf" srcId="{92BBEF3B-E16E-4C7F-8C05-44A1ADEA6CA8}" destId="{2CC97008-28E5-49E5-9B17-11893CD68F63}" srcOrd="2" destOrd="0" presId="urn:microsoft.com/office/officeart/2018/2/layout/IconLabelList"/>
    <dgm:cxn modelId="{256ECA02-83E8-438E-A934-F871A49B6A6B}" type="presParOf" srcId="{D2DA497C-1A48-43E0-9D56-1375624B9EB9}" destId="{CA1DDA9D-0826-4C4E-A613-4FFC3E83F388}" srcOrd="5" destOrd="0" presId="urn:microsoft.com/office/officeart/2018/2/layout/IconLabelList"/>
    <dgm:cxn modelId="{F7C89D51-3E3D-4D35-83DF-99E8E2E6ED36}" type="presParOf" srcId="{D2DA497C-1A48-43E0-9D56-1375624B9EB9}" destId="{99DAFD5E-A426-4E4D-808D-6DE69793881D}" srcOrd="6" destOrd="0" presId="urn:microsoft.com/office/officeart/2018/2/layout/IconLabelList"/>
    <dgm:cxn modelId="{DA25AC64-D38E-4BD7-8B74-A212DCBFFA87}" type="presParOf" srcId="{99DAFD5E-A426-4E4D-808D-6DE69793881D}" destId="{71D0E775-1710-4594-BDF1-A1EC8E3F48E5}" srcOrd="0" destOrd="0" presId="urn:microsoft.com/office/officeart/2018/2/layout/IconLabelList"/>
    <dgm:cxn modelId="{D23BBAAE-D4D4-45DB-BA63-43F009A712D7}" type="presParOf" srcId="{99DAFD5E-A426-4E4D-808D-6DE69793881D}" destId="{8DFC621A-F53A-461C-ACA2-CCEE3745816B}" srcOrd="1" destOrd="0" presId="urn:microsoft.com/office/officeart/2018/2/layout/IconLabelList"/>
    <dgm:cxn modelId="{4DFCBC40-6EB0-43F2-A808-5CFC4313E1FF}" type="presParOf" srcId="{99DAFD5E-A426-4E4D-808D-6DE69793881D}" destId="{5F15B115-390D-4B46-A78E-C66292FF4B23}" srcOrd="2" destOrd="0" presId="urn:microsoft.com/office/officeart/2018/2/layout/IconLabelList"/>
    <dgm:cxn modelId="{05D32F0B-E8A3-474D-8C83-0BE9B0E8D01E}" type="presParOf" srcId="{D2DA497C-1A48-43E0-9D56-1375624B9EB9}" destId="{670355E6-AD0B-41A7-9B67-B7ED4618F4A6}" srcOrd="7" destOrd="0" presId="urn:microsoft.com/office/officeart/2018/2/layout/IconLabelList"/>
    <dgm:cxn modelId="{9DA1B196-4F82-402F-BBEE-D27C81F6A42B}" type="presParOf" srcId="{D2DA497C-1A48-43E0-9D56-1375624B9EB9}" destId="{4A7E1E0B-7109-409D-BAF8-DFEF5BFEF499}" srcOrd="8" destOrd="0" presId="urn:microsoft.com/office/officeart/2018/2/layout/IconLabelList"/>
    <dgm:cxn modelId="{7E294F3C-3A7C-4331-834F-7159D35459CE}" type="presParOf" srcId="{4A7E1E0B-7109-409D-BAF8-DFEF5BFEF499}" destId="{444DA415-2F2C-427A-B532-1AEF1F2D625B}" srcOrd="0" destOrd="0" presId="urn:microsoft.com/office/officeart/2018/2/layout/IconLabelList"/>
    <dgm:cxn modelId="{C408A8B2-230C-4518-9E20-79D4683CDBED}" type="presParOf" srcId="{4A7E1E0B-7109-409D-BAF8-DFEF5BFEF499}" destId="{76485741-06D4-431C-8281-EE068A9D023D}" srcOrd="1" destOrd="0" presId="urn:microsoft.com/office/officeart/2018/2/layout/IconLabelList"/>
    <dgm:cxn modelId="{D507BA5B-0D46-47AF-98CB-9EA10CB2F5E1}" type="presParOf" srcId="{4A7E1E0B-7109-409D-BAF8-DFEF5BFEF499}" destId="{76995FB4-971C-45AE-A866-5D7B91D6BC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258D3-3996-4CB3-8D88-1A8E3FA224EA}">
      <dsp:nvSpPr>
        <dsp:cNvPr id="0" name=""/>
        <dsp:cNvSpPr/>
      </dsp:nvSpPr>
      <dsp:spPr>
        <a:xfrm>
          <a:off x="927600" y="134311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8BB5A-8069-453E-8901-B340AF908323}">
      <dsp:nvSpPr>
        <dsp:cNvPr id="0" name=""/>
        <dsp:cNvSpPr/>
      </dsp:nvSpPr>
      <dsp:spPr>
        <a:xfrm>
          <a:off x="432600" y="242335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App idea</a:t>
          </a:r>
          <a:endParaRPr lang="en-US" sz="2400" kern="1200" dirty="0"/>
        </a:p>
      </dsp:txBody>
      <dsp:txXfrm>
        <a:off x="432600" y="2423355"/>
        <a:ext cx="1800000" cy="720000"/>
      </dsp:txXfrm>
    </dsp:sp>
    <dsp:sp modelId="{6817D11B-1074-4E4A-B02A-073295E80F87}">
      <dsp:nvSpPr>
        <dsp:cNvPr id="0" name=""/>
        <dsp:cNvSpPr/>
      </dsp:nvSpPr>
      <dsp:spPr>
        <a:xfrm>
          <a:off x="3042600" y="134311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015DC-2D9F-4D3F-8D14-9D09D9B19AD7}">
      <dsp:nvSpPr>
        <dsp:cNvPr id="0" name=""/>
        <dsp:cNvSpPr/>
      </dsp:nvSpPr>
      <dsp:spPr>
        <a:xfrm>
          <a:off x="2547600" y="242335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General information </a:t>
          </a:r>
          <a:endParaRPr lang="en-US" sz="2400" kern="1200" dirty="0"/>
        </a:p>
      </dsp:txBody>
      <dsp:txXfrm>
        <a:off x="2547600" y="2423355"/>
        <a:ext cx="1800000" cy="720000"/>
      </dsp:txXfrm>
    </dsp:sp>
    <dsp:sp modelId="{DA50DBEE-D349-41A6-A97B-05DC2C90F11A}">
      <dsp:nvSpPr>
        <dsp:cNvPr id="0" name=""/>
        <dsp:cNvSpPr/>
      </dsp:nvSpPr>
      <dsp:spPr>
        <a:xfrm>
          <a:off x="5157600" y="134311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97008-28E5-49E5-9B17-11893CD68F63}">
      <dsp:nvSpPr>
        <dsp:cNvPr id="0" name=""/>
        <dsp:cNvSpPr/>
      </dsp:nvSpPr>
      <dsp:spPr>
        <a:xfrm>
          <a:off x="4662600" y="242335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Database</a:t>
          </a:r>
          <a:endParaRPr lang="en-US" sz="2400" kern="1200"/>
        </a:p>
      </dsp:txBody>
      <dsp:txXfrm>
        <a:off x="4662600" y="2423355"/>
        <a:ext cx="1800000" cy="720000"/>
      </dsp:txXfrm>
    </dsp:sp>
    <dsp:sp modelId="{71D0E775-1710-4594-BDF1-A1EC8E3F48E5}">
      <dsp:nvSpPr>
        <dsp:cNvPr id="0" name=""/>
        <dsp:cNvSpPr/>
      </dsp:nvSpPr>
      <dsp:spPr>
        <a:xfrm>
          <a:off x="7272600" y="1343116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5B115-390D-4B46-A78E-C66292FF4B23}">
      <dsp:nvSpPr>
        <dsp:cNvPr id="0" name=""/>
        <dsp:cNvSpPr/>
      </dsp:nvSpPr>
      <dsp:spPr>
        <a:xfrm>
          <a:off x="6777600" y="242335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App features</a:t>
          </a:r>
          <a:endParaRPr lang="en-US" sz="2400" kern="1200"/>
        </a:p>
      </dsp:txBody>
      <dsp:txXfrm>
        <a:off x="6777600" y="2423355"/>
        <a:ext cx="1800000" cy="720000"/>
      </dsp:txXfrm>
    </dsp:sp>
    <dsp:sp modelId="{444DA415-2F2C-427A-B532-1AEF1F2D625B}">
      <dsp:nvSpPr>
        <dsp:cNvPr id="0" name=""/>
        <dsp:cNvSpPr/>
      </dsp:nvSpPr>
      <dsp:spPr>
        <a:xfrm>
          <a:off x="9387600" y="1343116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95FB4-971C-45AE-A866-5D7B91D6BC59}">
      <dsp:nvSpPr>
        <dsp:cNvPr id="0" name=""/>
        <dsp:cNvSpPr/>
      </dsp:nvSpPr>
      <dsp:spPr>
        <a:xfrm>
          <a:off x="8892600" y="242335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Summary</a:t>
          </a:r>
          <a:endParaRPr lang="en-US" sz="2400" kern="1200"/>
        </a:p>
      </dsp:txBody>
      <dsp:txXfrm>
        <a:off x="8892600" y="2423355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7697D-2204-4642-8F8E-DCE985B54DA6}" type="datetimeFigureOut">
              <a:rPr lang="de-DE" smtClean="0"/>
              <a:t>24.07.2025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AC938-C7E8-444A-A4BB-EABBCAA0387F}" type="slidenum">
              <a:rPr lang="de-DE" smtClean="0"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006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11</a:t>
            </a:fld>
            <a:endParaRPr lang="de-D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12</a:t>
            </a:fld>
            <a:endParaRPr lang="de-D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13</a:t>
            </a:fld>
            <a:endParaRPr lang="de-D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14</a:t>
            </a:fld>
            <a:endParaRPr lang="de-D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15</a:t>
            </a:fld>
            <a:endParaRPr lang="de-D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16</a:t>
            </a:fld>
            <a:endParaRPr lang="de-D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C938-C7E8-444A-A4BB-EABBCAA0387F}" type="slidenum">
              <a:rPr lang="de-DE" smtClean="0"/>
              <a:t>17</a:t>
            </a:fld>
            <a:endParaRPr lang="de-D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156308" y="3618384"/>
            <a:ext cx="11904459" cy="2707437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7834" y="6432821"/>
            <a:ext cx="2302933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2133" b="1" dirty="0">
                <a:solidFill>
                  <a:schemeClr val="tx1"/>
                </a:solidFill>
              </a:rPr>
              <a:t>www.kit.edu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662" y="6525687"/>
            <a:ext cx="480889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de-DE" sz="1100" noProof="0" dirty="0"/>
              <a:t>KIT – Die Forschungsuniversität in der Helmholtz-Gemeinschaft</a:t>
            </a:r>
            <a:endParaRPr lang="en-US" sz="1100" noProof="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0486A875-9103-4865-A4A2-F6DFEEEA2E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1" y="479852"/>
            <a:ext cx="2177903" cy="1002890"/>
          </a:xfrm>
          <a:prstGeom prst="rect">
            <a:avLst/>
          </a:prstGeom>
        </p:spPr>
      </p:pic>
      <p:sp>
        <p:nvSpPr>
          <p:cNvPr id="16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487258" y="1927266"/>
            <a:ext cx="11366076" cy="3800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400" b="1"/>
            </a:lvl1pPr>
            <a:lvl2pPr marL="473979" indent="0">
              <a:buFont typeface="Arial" panose="020B0604020202020204" pitchFamily="34" charset="0"/>
              <a:buNone/>
              <a:defRPr sz="3466" b="1"/>
            </a:lvl2pPr>
            <a:lvl3pPr marL="956422" indent="0">
              <a:buFont typeface="Arial" panose="020B0604020202020204" pitchFamily="34" charset="0"/>
              <a:buNone/>
              <a:defRPr sz="3466" b="1"/>
            </a:lvl3pPr>
            <a:lvl4pPr marL="1430402" indent="0">
              <a:buFont typeface="Arial" panose="020B0604020202020204" pitchFamily="34" charset="0"/>
              <a:buNone/>
              <a:defRPr sz="3466" b="1"/>
            </a:lvl4pPr>
            <a:lvl5pPr marL="1912845" indent="0">
              <a:buFont typeface="Arial" panose="020B0604020202020204" pitchFamily="34" charset="0"/>
              <a:buNone/>
              <a:defRPr sz="3466" b="1"/>
            </a:lvl5pPr>
          </a:lstStyle>
          <a:p>
            <a:pPr lvl="0"/>
            <a:r>
              <a:rPr lang="de-DE" dirty="0"/>
              <a:t>Folientitel: Arial 34pt </a:t>
            </a:r>
            <a:r>
              <a:rPr lang="de-DE" dirty="0" err="1"/>
              <a:t>bold</a:t>
            </a:r>
            <a:endParaRPr lang="de-DE" dirty="0"/>
          </a:p>
        </p:txBody>
      </p:sp>
      <p:sp>
        <p:nvSpPr>
          <p:cNvPr id="25" name="Textplatzhalt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507567" y="2639093"/>
            <a:ext cx="11354233" cy="67966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399" b="1" i="0" baseline="0"/>
            </a:lvl1pPr>
            <a:lvl2pPr marL="473979" indent="0">
              <a:buFont typeface="Arial" panose="020B0604020202020204" pitchFamily="34" charset="0"/>
              <a:buNone/>
              <a:defRPr sz="2399" b="1" i="0"/>
            </a:lvl2pPr>
            <a:lvl3pPr marL="956422" indent="0">
              <a:buFont typeface="Arial" panose="020B0604020202020204" pitchFamily="34" charset="0"/>
              <a:buNone/>
              <a:defRPr sz="2399" b="1" i="0"/>
            </a:lvl3pPr>
            <a:lvl4pPr marL="1430402" indent="0">
              <a:buFont typeface="Arial" panose="020B0604020202020204" pitchFamily="34" charset="0"/>
              <a:buNone/>
              <a:defRPr sz="2399" b="1" i="0"/>
            </a:lvl4pPr>
            <a:lvl5pPr marL="1912845" indent="0">
              <a:buFont typeface="Arial" panose="020B0604020202020204" pitchFamily="34" charset="0"/>
              <a:buNone/>
              <a:defRPr sz="2399" b="1" i="0"/>
            </a:lvl5pPr>
          </a:lstStyle>
          <a:p>
            <a:pPr lvl="0"/>
            <a:r>
              <a:rPr lang="de-DE" dirty="0"/>
              <a:t>Unterzeile: Arial 24pt </a:t>
            </a:r>
            <a:r>
              <a:rPr lang="de-DE" dirty="0" err="1"/>
              <a:t>bold</a:t>
            </a:r>
            <a:br>
              <a:rPr lang="de-DE" dirty="0"/>
            </a:br>
            <a:r>
              <a:rPr lang="de-DE" dirty="0"/>
              <a:t>(Auch zweizeilig möglich)</a:t>
            </a:r>
          </a:p>
        </p:txBody>
      </p:sp>
    </p:spTree>
    <p:extLst>
      <p:ext uri="{BB962C8B-B14F-4D97-AF65-F5344CB8AC3E}">
        <p14:creationId xmlns:p14="http://schemas.microsoft.com/office/powerpoint/2010/main" val="3349880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Bildwelt-KIT-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3">
            <a:extLst>
              <a:ext uri="{FF2B5EF4-FFF2-40B4-BE49-F238E27FC236}">
                <a16:creationId xmlns:a16="http://schemas.microsoft.com/office/drawing/2014/main" id="{153A9B5E-D5F5-4943-9CE5-6CC8AD9849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11" b="18811"/>
          <a:stretch>
            <a:fillRect/>
          </a:stretch>
        </p:blipFill>
        <p:spPr>
          <a:xfrm>
            <a:off x="154800" y="3618383"/>
            <a:ext cx="11904459" cy="2707437"/>
          </a:xfrm>
          <a:prstGeom prst="round2DiagRect">
            <a:avLst>
              <a:gd name="adj1" fmla="val 0"/>
              <a:gd name="adj2" fmla="val 8317"/>
            </a:avLst>
          </a:prstGeom>
        </p:spPr>
      </p:pic>
      <p:sp>
        <p:nvSpPr>
          <p:cNvPr id="13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7834" y="6432821"/>
            <a:ext cx="2302933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2133" b="1" dirty="0">
                <a:solidFill>
                  <a:schemeClr val="tx1"/>
                </a:solidFill>
              </a:rPr>
              <a:t>www.kit.edu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662" y="6525687"/>
            <a:ext cx="480889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de-DE" sz="1100" noProof="0" dirty="0"/>
              <a:t>KIT – Die Forschungsuniversität in der Helmholtz-Gemeinschaft</a:t>
            </a:r>
            <a:endParaRPr lang="en-US" sz="1100" noProof="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0486A875-9103-4865-A4A2-F6DFEEEA2E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1" y="479852"/>
            <a:ext cx="2177903" cy="1002890"/>
          </a:xfrm>
          <a:prstGeom prst="rect">
            <a:avLst/>
          </a:prstGeom>
        </p:spPr>
      </p:pic>
      <p:sp>
        <p:nvSpPr>
          <p:cNvPr id="16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487258" y="1927266"/>
            <a:ext cx="11366076" cy="3800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400" b="1"/>
            </a:lvl1pPr>
            <a:lvl2pPr marL="473979" indent="0">
              <a:buFont typeface="Arial" panose="020B0604020202020204" pitchFamily="34" charset="0"/>
              <a:buNone/>
              <a:defRPr sz="3466" b="1"/>
            </a:lvl2pPr>
            <a:lvl3pPr marL="956422" indent="0">
              <a:buFont typeface="Arial" panose="020B0604020202020204" pitchFamily="34" charset="0"/>
              <a:buNone/>
              <a:defRPr sz="3466" b="1"/>
            </a:lvl3pPr>
            <a:lvl4pPr marL="1430402" indent="0">
              <a:buFont typeface="Arial" panose="020B0604020202020204" pitchFamily="34" charset="0"/>
              <a:buNone/>
              <a:defRPr sz="3466" b="1"/>
            </a:lvl4pPr>
            <a:lvl5pPr marL="1912845" indent="0">
              <a:buFont typeface="Arial" panose="020B0604020202020204" pitchFamily="34" charset="0"/>
              <a:buNone/>
              <a:defRPr sz="3466" b="1"/>
            </a:lvl5pPr>
          </a:lstStyle>
          <a:p>
            <a:pPr lvl="0"/>
            <a:r>
              <a:rPr lang="de-DE" dirty="0"/>
              <a:t>Folientitel: Arial 34pt </a:t>
            </a:r>
            <a:r>
              <a:rPr lang="de-DE" dirty="0" err="1"/>
              <a:t>bold</a:t>
            </a:r>
            <a:endParaRPr lang="de-DE" dirty="0"/>
          </a:p>
        </p:txBody>
      </p:sp>
      <p:sp>
        <p:nvSpPr>
          <p:cNvPr id="25" name="Textplatzhalt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507567" y="2639093"/>
            <a:ext cx="11354233" cy="67966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399" b="1" i="0" baseline="0"/>
            </a:lvl1pPr>
            <a:lvl2pPr marL="473979" indent="0">
              <a:buFont typeface="Arial" panose="020B0604020202020204" pitchFamily="34" charset="0"/>
              <a:buNone/>
              <a:defRPr sz="2399" b="1" i="0"/>
            </a:lvl2pPr>
            <a:lvl3pPr marL="956422" indent="0">
              <a:buFont typeface="Arial" panose="020B0604020202020204" pitchFamily="34" charset="0"/>
              <a:buNone/>
              <a:defRPr sz="2399" b="1" i="0"/>
            </a:lvl3pPr>
            <a:lvl4pPr marL="1430402" indent="0">
              <a:buFont typeface="Arial" panose="020B0604020202020204" pitchFamily="34" charset="0"/>
              <a:buNone/>
              <a:defRPr sz="2399" b="1" i="0"/>
            </a:lvl4pPr>
            <a:lvl5pPr marL="1912845" indent="0">
              <a:buFont typeface="Arial" panose="020B0604020202020204" pitchFamily="34" charset="0"/>
              <a:buNone/>
              <a:defRPr sz="2399" b="1" i="0"/>
            </a:lvl5pPr>
          </a:lstStyle>
          <a:p>
            <a:pPr lvl="0"/>
            <a:r>
              <a:rPr lang="de-DE" dirty="0"/>
              <a:t>Unterzeile: Arial 24pt </a:t>
            </a:r>
            <a:r>
              <a:rPr lang="de-DE" dirty="0" err="1"/>
              <a:t>bold</a:t>
            </a:r>
            <a:br>
              <a:rPr lang="de-DE" dirty="0"/>
            </a:br>
            <a:r>
              <a:rPr lang="de-DE" dirty="0"/>
              <a:t>(Auch zweizeilig möglich)</a:t>
            </a:r>
          </a:p>
        </p:txBody>
      </p:sp>
    </p:spTree>
    <p:extLst>
      <p:ext uri="{BB962C8B-B14F-4D97-AF65-F5344CB8AC3E}">
        <p14:creationId xmlns:p14="http://schemas.microsoft.com/office/powerpoint/2010/main" val="3524315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83512"/>
            <a:ext cx="11125200" cy="4486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sz="2100"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24.07.2025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696EC4-B4CF-4701-AD06-A8439D6D8E12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40BE303-A4F2-4BCB-AF82-DC9DDFB7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69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583512"/>
            <a:ext cx="5486400" cy="459345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583512"/>
            <a:ext cx="5486399" cy="459345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179C-E631-47AA-B9CB-ABFD8F596650}" type="datetime1">
              <a:rPr lang="de-DE" smtClean="0"/>
              <a:t>24.07.2025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6207759" y="1584471"/>
            <a:ext cx="5467775" cy="4611218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583512"/>
            <a:ext cx="5486400" cy="459345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179C-E631-47AA-B9CB-ABFD8F596650}" type="datetime1">
              <a:rPr lang="de-DE" smtClean="0"/>
              <a:t>24.07.2025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62948F-D5FC-499A-8B74-0B5A4CF7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9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583512"/>
            <a:ext cx="5464176" cy="823912"/>
          </a:xfrm>
        </p:spPr>
        <p:txBody>
          <a:bodyPr anchor="b">
            <a:normAutofit/>
          </a:bodyPr>
          <a:lstStyle>
            <a:lvl1pPr marL="0" indent="0">
              <a:buNone/>
              <a:defRPr sz="2600" b="1"/>
            </a:lvl1pPr>
            <a:lvl2pPr marL="457173" indent="0">
              <a:buNone/>
              <a:defRPr sz="1999" b="1"/>
            </a:lvl2pPr>
            <a:lvl3pPr marL="914347" indent="0">
              <a:buNone/>
              <a:defRPr sz="1799" b="1"/>
            </a:lvl3pPr>
            <a:lvl4pPr marL="1371519" indent="0">
              <a:buNone/>
              <a:defRPr sz="1599" b="1"/>
            </a:lvl4pPr>
            <a:lvl5pPr marL="1828693" indent="0">
              <a:buNone/>
              <a:defRPr sz="1599" b="1"/>
            </a:lvl5pPr>
            <a:lvl6pPr marL="2285866" indent="0">
              <a:buNone/>
              <a:defRPr sz="1599" b="1"/>
            </a:lvl6pPr>
            <a:lvl7pPr marL="2743040" indent="0">
              <a:buNone/>
              <a:defRPr sz="1599" b="1"/>
            </a:lvl7pPr>
            <a:lvl8pPr marL="3200213" indent="0">
              <a:buNone/>
              <a:defRPr sz="1599" b="1"/>
            </a:lvl8pPr>
            <a:lvl9pPr marL="3657387" indent="0">
              <a:buNone/>
              <a:defRPr sz="1599" b="1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2582458"/>
            <a:ext cx="5464176" cy="36072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4" y="1583512"/>
            <a:ext cx="5464176" cy="823912"/>
          </a:xfrm>
        </p:spPr>
        <p:txBody>
          <a:bodyPr anchor="b">
            <a:normAutofit/>
          </a:bodyPr>
          <a:lstStyle>
            <a:lvl1pPr marL="0" indent="0">
              <a:buNone/>
              <a:defRPr sz="2600" b="1"/>
            </a:lvl1pPr>
            <a:lvl2pPr marL="457173" indent="0">
              <a:buNone/>
              <a:defRPr sz="1999" b="1"/>
            </a:lvl2pPr>
            <a:lvl3pPr marL="914347" indent="0">
              <a:buNone/>
              <a:defRPr sz="1799" b="1"/>
            </a:lvl3pPr>
            <a:lvl4pPr marL="1371519" indent="0">
              <a:buNone/>
              <a:defRPr sz="1599" b="1"/>
            </a:lvl4pPr>
            <a:lvl5pPr marL="1828693" indent="0">
              <a:buNone/>
              <a:defRPr sz="1599" b="1"/>
            </a:lvl5pPr>
            <a:lvl6pPr marL="2285866" indent="0">
              <a:buNone/>
              <a:defRPr sz="1599" b="1"/>
            </a:lvl6pPr>
            <a:lvl7pPr marL="2743040" indent="0">
              <a:buNone/>
              <a:defRPr sz="1599" b="1"/>
            </a:lvl7pPr>
            <a:lvl8pPr marL="3200213" indent="0">
              <a:buNone/>
              <a:defRPr sz="1599" b="1"/>
            </a:lvl8pPr>
            <a:lvl9pPr marL="3657387" indent="0">
              <a:buNone/>
              <a:defRPr sz="1599" b="1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4" y="2582458"/>
            <a:ext cx="5464176" cy="360720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1DB6-D53F-456D-8864-56CE29C6E6BA}" type="datetime1">
              <a:rPr lang="de-DE" smtClean="0"/>
              <a:t>24.07.2025</a:t>
            </a:fld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233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6207759" y="2590003"/>
            <a:ext cx="5467775" cy="3605685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de-DE" dirty="0"/>
              <a:t>Fügen Sie auf der Masterfolie ein frei wählbares Bild ein.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583512"/>
            <a:ext cx="5464176" cy="823912"/>
          </a:xfrm>
        </p:spPr>
        <p:txBody>
          <a:bodyPr anchor="b">
            <a:normAutofit/>
          </a:bodyPr>
          <a:lstStyle>
            <a:lvl1pPr marL="0" indent="0">
              <a:buNone/>
              <a:defRPr sz="2600" b="1"/>
            </a:lvl1pPr>
            <a:lvl2pPr marL="457173" indent="0">
              <a:buNone/>
              <a:defRPr sz="1999" b="1"/>
            </a:lvl2pPr>
            <a:lvl3pPr marL="914347" indent="0">
              <a:buNone/>
              <a:defRPr sz="1799" b="1"/>
            </a:lvl3pPr>
            <a:lvl4pPr marL="1371519" indent="0">
              <a:buNone/>
              <a:defRPr sz="1599" b="1"/>
            </a:lvl4pPr>
            <a:lvl5pPr marL="1828693" indent="0">
              <a:buNone/>
              <a:defRPr sz="1599" b="1"/>
            </a:lvl5pPr>
            <a:lvl6pPr marL="2285866" indent="0">
              <a:buNone/>
              <a:defRPr sz="1599" b="1"/>
            </a:lvl6pPr>
            <a:lvl7pPr marL="2743040" indent="0">
              <a:buNone/>
              <a:defRPr sz="1599" b="1"/>
            </a:lvl7pPr>
            <a:lvl8pPr marL="3200213" indent="0">
              <a:buNone/>
              <a:defRPr sz="1599" b="1"/>
            </a:lvl8pPr>
            <a:lvl9pPr marL="3657387" indent="0">
              <a:buNone/>
              <a:defRPr sz="1599" b="1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2582458"/>
            <a:ext cx="5464176" cy="36072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4" y="1583512"/>
            <a:ext cx="5464176" cy="823912"/>
          </a:xfrm>
        </p:spPr>
        <p:txBody>
          <a:bodyPr anchor="b">
            <a:normAutofit/>
          </a:bodyPr>
          <a:lstStyle>
            <a:lvl1pPr marL="0" indent="0">
              <a:buNone/>
              <a:defRPr sz="2600" b="1"/>
            </a:lvl1pPr>
            <a:lvl2pPr marL="457173" indent="0">
              <a:buNone/>
              <a:defRPr sz="1999" b="1"/>
            </a:lvl2pPr>
            <a:lvl3pPr marL="914347" indent="0">
              <a:buNone/>
              <a:defRPr sz="1799" b="1"/>
            </a:lvl3pPr>
            <a:lvl4pPr marL="1371519" indent="0">
              <a:buNone/>
              <a:defRPr sz="1599" b="1"/>
            </a:lvl4pPr>
            <a:lvl5pPr marL="1828693" indent="0">
              <a:buNone/>
              <a:defRPr sz="1599" b="1"/>
            </a:lvl5pPr>
            <a:lvl6pPr marL="2285866" indent="0">
              <a:buNone/>
              <a:defRPr sz="1599" b="1"/>
            </a:lvl6pPr>
            <a:lvl7pPr marL="2743040" indent="0">
              <a:buNone/>
              <a:defRPr sz="1599" b="1"/>
            </a:lvl7pPr>
            <a:lvl8pPr marL="3200213" indent="0">
              <a:buNone/>
              <a:defRPr sz="1599" b="1"/>
            </a:lvl8pPr>
            <a:lvl9pPr marL="3657387" indent="0">
              <a:buNone/>
              <a:defRPr sz="1599" b="1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1DB6-D53F-456D-8864-56CE29C6E6BA}" type="datetime1">
              <a:rPr lang="de-DE" smtClean="0"/>
              <a:t>24.07.2025</a:t>
            </a:fld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E438375-C357-462F-AB62-257249F8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989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F2A7-198D-4BCD-8375-CAC66677F609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44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F2A7-198D-4BCD-8375-CAC66677F609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770680"/>
            <a:ext cx="12192000" cy="4404693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de-DE" dirty="0"/>
              <a:t>Fügen Sie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4165401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6">
            <a:extLst>
              <a:ext uri="{FF2B5EF4-FFF2-40B4-BE49-F238E27FC236}">
                <a16:creationId xmlns:a16="http://schemas.microsoft.com/office/drawing/2014/main" id="{24499710-2D6F-5743-B9E5-F18E3B2390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57" b="21796"/>
          <a:stretch/>
        </p:blipFill>
        <p:spPr>
          <a:xfrm>
            <a:off x="-1" y="1770680"/>
            <a:ext cx="12191999" cy="440469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F2A7-198D-4BCD-8375-CAC66677F609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25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F2A7-198D-4BCD-8375-CAC66677F609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2" name="Rechteck 1"/>
          <p:cNvSpPr/>
          <p:nvPr userDrawn="1"/>
        </p:nvSpPr>
        <p:spPr>
          <a:xfrm>
            <a:off x="0" y="6201408"/>
            <a:ext cx="12192000" cy="243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199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770679"/>
            <a:ext cx="12192000" cy="4558317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de-DE" dirty="0"/>
              <a:t>Fügen Sie ein frei wählbares Bild ein.</a:t>
            </a:r>
          </a:p>
        </p:txBody>
      </p:sp>
    </p:spTree>
    <p:extLst>
      <p:ext uri="{BB962C8B-B14F-4D97-AF65-F5344CB8AC3E}">
        <p14:creationId xmlns:p14="http://schemas.microsoft.com/office/powerpoint/2010/main" val="1273755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F2A7-198D-4BCD-8375-CAC66677F609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10E8322-A2A9-45EC-9F17-A3F73D4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/>
          </p:nvPr>
        </p:nvSpPr>
        <p:spPr>
          <a:xfrm>
            <a:off x="0" y="1770680"/>
            <a:ext cx="12192000" cy="4404693"/>
          </a:xfrm>
          <a:solidFill>
            <a:srgbClr val="FF99FF"/>
          </a:solidFill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de-DE" dirty="0"/>
          </a:p>
          <a:p>
            <a:r>
              <a:rPr lang="de-DE" dirty="0"/>
              <a:t>Fügen Sie ein frei wählbares Bild ein.</a:t>
            </a:r>
          </a:p>
        </p:txBody>
      </p:sp>
      <p:pic>
        <p:nvPicPr>
          <p:cNvPr id="10" name="Bildplatzhalter 6">
            <a:extLst>
              <a:ext uri="{FF2B5EF4-FFF2-40B4-BE49-F238E27FC236}">
                <a16:creationId xmlns:a16="http://schemas.microsoft.com/office/drawing/2014/main" id="{08EE61D7-51FA-8445-A65A-B10C193BEE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57" b="19757"/>
          <a:stretch/>
        </p:blipFill>
        <p:spPr>
          <a:xfrm>
            <a:off x="-1" y="1770680"/>
            <a:ext cx="12191999" cy="45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44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F2463-8150-4DAA-877D-A146C8C8C60A}" type="datetime1">
              <a:rPr lang="de-DE" smtClean="0"/>
              <a:t>24.07.2025</a:t>
            </a:fld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631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853" y="1583511"/>
            <a:ext cx="6509747" cy="4277541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 marL="1435016" indent="0">
              <a:buNone/>
              <a:defRPr sz="15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2" y="1583512"/>
            <a:ext cx="4238625" cy="4277541"/>
          </a:xfrm>
        </p:spPr>
        <p:txBody>
          <a:bodyPr>
            <a:normAutofit/>
          </a:bodyPr>
          <a:lstStyle>
            <a:lvl1pPr marL="0" indent="0">
              <a:buNone/>
              <a:defRPr sz="2600"/>
            </a:lvl1pPr>
            <a:lvl2pPr marL="457173" indent="0">
              <a:buNone/>
              <a:defRPr sz="1400"/>
            </a:lvl2pPr>
            <a:lvl3pPr marL="914347" indent="0">
              <a:buNone/>
              <a:defRPr sz="1200"/>
            </a:lvl3pPr>
            <a:lvl4pPr marL="1371519" indent="0">
              <a:buNone/>
              <a:defRPr sz="1000"/>
            </a:lvl4pPr>
            <a:lvl5pPr marL="1828693" indent="0">
              <a:buNone/>
              <a:defRPr sz="1000"/>
            </a:lvl5pPr>
            <a:lvl6pPr marL="2285866" indent="0">
              <a:buNone/>
              <a:defRPr sz="1000"/>
            </a:lvl6pPr>
            <a:lvl7pPr marL="2743040" indent="0">
              <a:buNone/>
              <a:defRPr sz="1000"/>
            </a:lvl7pPr>
            <a:lvl8pPr marL="3200213" indent="0">
              <a:buNone/>
              <a:defRPr sz="1000"/>
            </a:lvl8pPr>
            <a:lvl9pPr marL="3657387" indent="0">
              <a:buNone/>
              <a:defRPr sz="1000"/>
            </a:lvl9pPr>
          </a:lstStyle>
          <a:p>
            <a:pPr lvl="0"/>
            <a:r>
              <a:rPr lang="en-US" altLang="de-DE" dirty="0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4683-D191-47F3-8302-BB2B36B1C86A}" type="datetime1">
              <a:rPr lang="de-DE" smtClean="0"/>
              <a:t>24.07.2025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F47D9EC-E3C8-4173-84B3-DB5A9106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307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58554" y="624691"/>
            <a:ext cx="7295047" cy="41492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3" indent="0">
              <a:buNone/>
              <a:defRPr sz="2800"/>
            </a:lvl2pPr>
            <a:lvl3pPr marL="914347" indent="0">
              <a:buNone/>
              <a:defRPr sz="2399"/>
            </a:lvl3pPr>
            <a:lvl4pPr marL="1371519" indent="0">
              <a:buNone/>
              <a:defRPr sz="1999"/>
            </a:lvl4pPr>
            <a:lvl5pPr marL="1828693" indent="0">
              <a:buNone/>
              <a:defRPr sz="1999"/>
            </a:lvl5pPr>
            <a:lvl6pPr marL="2285866" indent="0">
              <a:buNone/>
              <a:defRPr sz="1999"/>
            </a:lvl6pPr>
            <a:lvl7pPr marL="2743040" indent="0">
              <a:buNone/>
              <a:defRPr sz="1999"/>
            </a:lvl7pPr>
            <a:lvl8pPr marL="3200213" indent="0">
              <a:buNone/>
              <a:defRPr sz="1999"/>
            </a:lvl8pPr>
            <a:lvl9pPr marL="3657387" indent="0">
              <a:buNone/>
              <a:defRPr sz="1999"/>
            </a:lvl9pPr>
          </a:lstStyle>
          <a:p>
            <a:r>
              <a:rPr lang="de-DE" dirty="0"/>
              <a:t>Bild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BE91-4B1C-4025-AE57-60317864A3F3}" type="datetime1">
              <a:rPr lang="de-DE" smtClean="0"/>
              <a:t>24.07.2025</a:t>
            </a:fld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4D6481-F98B-45EE-B6D0-BF8C42A1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553" y="4836496"/>
            <a:ext cx="7291569" cy="56677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119134-5DDA-43C1-B0D4-2BD9056B0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2030" y="5463729"/>
            <a:ext cx="7291569" cy="7695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73" indent="0">
              <a:buNone/>
              <a:defRPr sz="1400"/>
            </a:lvl2pPr>
            <a:lvl3pPr marL="914347" indent="0">
              <a:buNone/>
              <a:defRPr sz="1200"/>
            </a:lvl3pPr>
            <a:lvl4pPr marL="1371519" indent="0">
              <a:buNone/>
              <a:defRPr sz="1000"/>
            </a:lvl4pPr>
            <a:lvl5pPr marL="1828693" indent="0">
              <a:buNone/>
              <a:defRPr sz="1000"/>
            </a:lvl5pPr>
            <a:lvl6pPr marL="2285866" indent="0">
              <a:buNone/>
              <a:defRPr sz="1000"/>
            </a:lvl6pPr>
            <a:lvl7pPr marL="2743040" indent="0">
              <a:buNone/>
              <a:defRPr sz="1000"/>
            </a:lvl7pPr>
            <a:lvl8pPr marL="3200213" indent="0">
              <a:buNone/>
              <a:defRPr sz="1000"/>
            </a:lvl8pPr>
            <a:lvl9pPr marL="3657387" indent="0">
              <a:buNone/>
              <a:defRPr sz="1000"/>
            </a:lvl9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</p:spTree>
    <p:extLst>
      <p:ext uri="{BB962C8B-B14F-4D97-AF65-F5344CB8AC3E}">
        <p14:creationId xmlns:p14="http://schemas.microsoft.com/office/powerpoint/2010/main" val="3483194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1423972"/>
            <a:ext cx="11125200" cy="468210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5D93-083F-4B89-951E-D5F35A1BBEC8}" type="datetime1">
              <a:rPr lang="de-DE" smtClean="0"/>
              <a:t>24.07.2025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AF9471-6F4B-417A-9B82-1D3AC42A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6561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7183" y="365124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/>
            </a:lvl1pPr>
          </a:lstStyle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5920" y="365124"/>
            <a:ext cx="8300763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 sz="1800"/>
            </a:lvl4pPr>
            <a:lvl5pPr>
              <a:defRPr/>
            </a:lvl5pPr>
          </a:lstStyle>
          <a:p>
            <a:pPr lvl="0"/>
            <a:r>
              <a:rPr lang="en-US" altLang="de-DE" dirty="0" err="1"/>
              <a:t>Mastertextformat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E158-F33A-4782-AFB5-03A3FD6F0AB2}" type="datetime1">
              <a:rPr lang="de-DE" smtClean="0"/>
              <a:t>24.07.2025</a:t>
            </a:fld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92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01.07.2025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dirty="0"/>
              <a:t>Mobile GIS and LBS - Dr.-Ing. Paul Vincent Kuper  Korvin Brecht; Jasmin Jährling; Elisabeth Kral; Merlin Pillich 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2D26F-D91F-4BDA-B7C2-0B45ED53E507}" type="slidenum">
              <a:rPr lang="de-DE" smtClean="0"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altLang="de-DE" dirty="0" err="1"/>
              <a:t>Mastertitelformat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001" y="1582633"/>
            <a:ext cx="11135999" cy="45234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altLang="de-DE" dirty="0"/>
              <a:t>Karlsruher Institut für Technologie (KIT)</a:t>
            </a:r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313" y="6329811"/>
            <a:ext cx="1370340" cy="5281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de-DE" sz="1200" smtClean="0"/>
            </a:lvl1pPr>
          </a:lstStyle>
          <a:p>
            <a:r>
              <a:rPr lang="en-GB" dirty="0"/>
              <a:t>24.07.2025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8000" y="6329811"/>
            <a:ext cx="435157" cy="5281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61696EC4-B4CF-4701-AD06-A8439D6D8E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D87B36-D57F-487F-9086-156B2F77E750}"/>
              </a:ext>
            </a:extLst>
          </p:cNvPr>
          <p:cNvSpPr txBox="1">
            <a:spLocks/>
          </p:cNvSpPr>
          <p:nvPr/>
        </p:nvSpPr>
        <p:spPr>
          <a:xfrm>
            <a:off x="2267108" y="6329811"/>
            <a:ext cx="5652720" cy="52818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dirty="0"/>
              <a:t>Korvin Brecht, Jasmin Jährling, Elisabeth Kral, Merlin Pillich</a:t>
            </a:r>
            <a:r>
              <a:rPr lang="de-DE" sz="1200" dirty="0"/>
              <a:t> - </a:t>
            </a:r>
            <a:r>
              <a:rPr lang="sv-SE" sz="1200" dirty="0"/>
              <a:t>Mobile GIS and LBS</a:t>
            </a:r>
            <a:endParaRPr lang="de-DE" sz="12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AE6A56DB-B5EE-4225-952A-4A1FEE4F4716}"/>
              </a:ext>
            </a:extLst>
          </p:cNvPr>
          <p:cNvSpPr txBox="1">
            <a:spLocks/>
          </p:cNvSpPr>
          <p:nvPr userDrawn="1"/>
        </p:nvSpPr>
        <p:spPr>
          <a:xfrm>
            <a:off x="7919828" y="6319881"/>
            <a:ext cx="3747510" cy="5381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dirty="0"/>
              <a:t>Dr.-Ing. Paul Vincent Kuper</a:t>
            </a:r>
            <a:endParaRPr lang="en-US" altLang="de-DE" sz="12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B978990-F548-4DBF-8142-A24718BD92B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612" y="441464"/>
            <a:ext cx="1448387" cy="666959"/>
          </a:xfrm>
          <a:prstGeom prst="rect">
            <a:avLst/>
          </a:prstGeom>
        </p:spPr>
      </p:pic>
      <p:cxnSp>
        <p:nvCxnSpPr>
          <p:cNvPr id="12" name="Gerade Verbindung 11"/>
          <p:cNvCxnSpPr/>
          <p:nvPr userDrawn="1"/>
        </p:nvCxnSpPr>
        <p:spPr>
          <a:xfrm>
            <a:off x="143930" y="6319881"/>
            <a:ext cx="1190414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l" defTabSz="914347" rtl="0" eaLnBrk="1" latinLnBrk="0" hangingPunct="1">
        <a:lnSpc>
          <a:spcPct val="90000"/>
        </a:lnSpc>
        <a:spcBef>
          <a:spcPct val="0"/>
        </a:spcBef>
        <a:buNone/>
        <a:defRPr lang="en-US" sz="3199" b="1" kern="120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71448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20"/>
        </a:buBlip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27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20"/>
        </a:buBlip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982606" indent="-265098" algn="l" defTabSz="898472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20"/>
        </a:buBlip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535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20"/>
        </a:buBlip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700114" indent="-265098" algn="l" defTabSz="914347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20"/>
        </a:buBlip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53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0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7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0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2">
          <p15:clr>
            <a:srgbClr val="F26B43"/>
          </p15:clr>
        </p15:guide>
        <p15:guide id="3" orient="horz" pos="618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20korvin01.github.io/www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-meteo.com/" TargetMode="External"/><Relationship Id="rId3" Type="http://schemas.openxmlformats.org/officeDocument/2006/relationships/hyperlink" Target="https://developer.android.com/studio?hl=de" TargetMode="External"/><Relationship Id="rId7" Type="http://schemas.openxmlformats.org/officeDocument/2006/relationships/hyperlink" Target="https://overpass-turbo.eu/" TargetMode="External"/><Relationship Id="rId2" Type="http://schemas.openxmlformats.org/officeDocument/2006/relationships/hyperlink" Target="https://cordova.apache.org/docs/en/12.x-2025.01/guide/overview/index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openstreetmap.org/" TargetMode="External"/><Relationship Id="rId5" Type="http://schemas.openxmlformats.org/officeDocument/2006/relationships/hyperlink" Target="https://leafletjs.com/" TargetMode="External"/><Relationship Id="rId4" Type="http://schemas.openxmlformats.org/officeDocument/2006/relationships/hyperlink" Target="https://www.mapbox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gik.kit.edu/mitarbeiter_harmening_corinna.php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7F9AF4E-BDBE-ACB3-632A-58E8BAF479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KIT Campus App</a:t>
            </a: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35B695-4367-59CD-3CAF-E39D68885A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de-DE" dirty="0" err="1"/>
              <a:t>Korvin</a:t>
            </a:r>
            <a:r>
              <a:rPr lang="de-DE" dirty="0"/>
              <a:t> Brecht, Jasmin Jährling, Elisabeth Kral, Merlin </a:t>
            </a:r>
            <a:r>
              <a:rPr lang="de-DE" dirty="0" err="1"/>
              <a:t>Pillich</a:t>
            </a:r>
            <a:endParaRPr lang="de-DE" dirty="0"/>
          </a:p>
          <a:p>
            <a:r>
              <a:rPr lang="de-DE" dirty="0"/>
              <a:t>Mobile GIS and LBS 2025 - </a:t>
            </a:r>
            <a:r>
              <a:rPr lang="de-DE" sz="2400" dirty="0"/>
              <a:t>Dr.-Ing. Paul Vincent Kuper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22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5039C2-0A93-1C73-E3F3-3B9B18D7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313" y="6329811"/>
            <a:ext cx="1370340" cy="5281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A9BFA6A-9A63-4E2D-92C0-C77BFA750EDB}" type="datetime1">
              <a:rPr lang="de-DE" noProof="0" smtClean="0"/>
              <a:pPr>
                <a:spcAft>
                  <a:spcPts val="600"/>
                </a:spcAft>
              </a:pPr>
              <a:t>24.07.2025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4D0234-004B-2DEE-59AE-C281D998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000" y="6329811"/>
            <a:ext cx="435157" cy="5281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696EC4-B4CF-4701-AD06-A8439D6D8E12}" type="slidenum">
              <a:rPr lang="en-US" noProof="0" smtClean="0"/>
              <a:pPr>
                <a:spcAft>
                  <a:spcPts val="600"/>
                </a:spcAft>
              </a:pPr>
              <a:t>2</a:t>
            </a:fld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D4B2BA8-8608-2A3E-29DC-F3F0C347A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</p:spPr>
        <p:txBody>
          <a:bodyPr anchor="b">
            <a:normAutofit/>
          </a:bodyPr>
          <a:lstStyle/>
          <a:p>
            <a:r>
              <a:rPr lang="de-DE" dirty="0" err="1"/>
              <a:t>Overview</a:t>
            </a:r>
            <a:endParaRPr lang="en-GB" dirty="0"/>
          </a:p>
        </p:txBody>
      </p:sp>
      <p:graphicFrame>
        <p:nvGraphicFramePr>
          <p:cNvPr id="7" name="Inhaltsplatzhalter 1">
            <a:extLst>
              <a:ext uri="{FF2B5EF4-FFF2-40B4-BE49-F238E27FC236}">
                <a16:creationId xmlns:a16="http://schemas.microsoft.com/office/drawing/2014/main" id="{6F28C9D4-FFB9-8BA2-F1EB-65D99200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064067"/>
              </p:ext>
            </p:extLst>
          </p:nvPr>
        </p:nvGraphicFramePr>
        <p:xfrm>
          <a:off x="533400" y="1583512"/>
          <a:ext cx="11125200" cy="4486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962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51D7B0-B74C-59A7-E91E-E5318010F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Create an App to…</a:t>
            </a:r>
          </a:p>
          <a:p>
            <a:pPr>
              <a:lnSpc>
                <a:spcPct val="150000"/>
              </a:lnSpc>
            </a:pPr>
            <a:r>
              <a:rPr lang="en-GB" dirty="0"/>
              <a:t>explore the KIT Campus</a:t>
            </a:r>
          </a:p>
          <a:p>
            <a:pPr>
              <a:lnSpc>
                <a:spcPct val="150000"/>
              </a:lnSpc>
            </a:pPr>
            <a:r>
              <a:rPr lang="en-GB" dirty="0"/>
              <a:t>easily find places to eat</a:t>
            </a:r>
          </a:p>
          <a:p>
            <a:pPr>
              <a:lnSpc>
                <a:spcPct val="150000"/>
              </a:lnSpc>
            </a:pPr>
            <a:r>
              <a:rPr lang="en-GB" dirty="0"/>
              <a:t>know where buildings of interest are</a:t>
            </a:r>
          </a:p>
          <a:p>
            <a:pPr>
              <a:lnSpc>
                <a:spcPct val="150000"/>
              </a:lnSpc>
            </a:pPr>
            <a:r>
              <a:rPr lang="en-GB" dirty="0"/>
              <a:t>learn more about monuments, memorials, squares, …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57C25A-1E89-1B4C-6FEC-5EB629AD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24.07.2025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27D8E0-C56F-AE9F-5EF3-D908A6EE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3</a:t>
            </a:fld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4FE0B33-23A8-ADF2-FBE8-4AF582BC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 </a:t>
            </a:r>
            <a:r>
              <a:rPr lang="de-DE" dirty="0" err="1"/>
              <a:t>idea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007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6ECD830-9C17-0401-B822-DD4036F2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Development of a hybrid web application for mobile devices</a:t>
            </a:r>
          </a:p>
          <a:p>
            <a:pPr>
              <a:lnSpc>
                <a:spcPct val="150000"/>
              </a:lnSpc>
            </a:pPr>
            <a:r>
              <a:rPr lang="en-GB" dirty="0"/>
              <a:t>Used Software (Open Source): 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App development: Apache Cordova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Styling: Leaflet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Weather data: Open-</a:t>
            </a:r>
            <a:r>
              <a:rPr lang="en-GB" dirty="0" err="1"/>
              <a:t>Meteo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Files: JavaScript, </a:t>
            </a:r>
            <a:r>
              <a:rPr lang="en-GB" dirty="0" err="1"/>
              <a:t>GeoJSON</a:t>
            </a:r>
            <a:r>
              <a:rPr lang="en-GB" dirty="0"/>
              <a:t>, CSS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020462-C68B-4013-64AA-2C0AFDC8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24.07.2025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EC2D8A-6E57-E8DC-2977-A13A6507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A081C17-5677-7AA4-B158-259FC705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information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396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C3709B4-7296-B2D6-9D05-E89DE383D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8" r="-3" b="-3"/>
          <a:stretch>
            <a:fillRect/>
          </a:stretch>
        </p:blipFill>
        <p:spPr>
          <a:xfrm>
            <a:off x="6207759" y="1584471"/>
            <a:ext cx="5467775" cy="4611218"/>
          </a:xfrm>
          <a:prstGeom prst="round2DiagRect">
            <a:avLst>
              <a:gd name="adj1" fmla="val 0"/>
              <a:gd name="adj2" fmla="val 8317"/>
            </a:avLst>
          </a:prstGeom>
          <a:noFill/>
          <a:ln w="12700">
            <a:solidFill>
              <a:schemeClr val="bg2"/>
            </a:solidFill>
          </a:ln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E9548B-CE4A-F92A-353A-4FC11D1B7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583512"/>
            <a:ext cx="5486400" cy="45934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dirty="0"/>
              <a:t>Querying individual information in Overpass about…</a:t>
            </a:r>
          </a:p>
          <a:p>
            <a:pPr>
              <a:lnSpc>
                <a:spcPct val="100000"/>
              </a:lnSpc>
            </a:pPr>
            <a:r>
              <a:rPr lang="en-GB" dirty="0"/>
              <a:t>Buildings (university, office, …)</a:t>
            </a:r>
          </a:p>
          <a:p>
            <a:pPr>
              <a:lnSpc>
                <a:spcPct val="100000"/>
              </a:lnSpc>
            </a:pPr>
            <a:r>
              <a:rPr lang="en-GB" dirty="0"/>
              <a:t>Parking places for cars &amp; bicycles</a:t>
            </a:r>
          </a:p>
          <a:p>
            <a:pPr>
              <a:lnSpc>
                <a:spcPct val="100000"/>
              </a:lnSpc>
            </a:pPr>
            <a:r>
              <a:rPr lang="en-GB" dirty="0"/>
              <a:t>Parks and grassy areas</a:t>
            </a:r>
          </a:p>
          <a:p>
            <a:pPr>
              <a:lnSpc>
                <a:spcPct val="100000"/>
              </a:lnSpc>
            </a:pPr>
            <a:r>
              <a:rPr lang="en-GB" dirty="0"/>
              <a:t>Public transport stops</a:t>
            </a:r>
          </a:p>
          <a:p>
            <a:pPr>
              <a:lnSpc>
                <a:spcPct val="100000"/>
              </a:lnSpc>
            </a:pPr>
            <a:r>
              <a:rPr lang="en-GB" dirty="0"/>
              <a:t>Monuments/memorials</a:t>
            </a:r>
          </a:p>
          <a:p>
            <a:pPr>
              <a:lnSpc>
                <a:spcPct val="100000"/>
              </a:lnSpc>
            </a:pPr>
            <a:r>
              <a:rPr lang="en-GB" dirty="0"/>
              <a:t>Squares</a:t>
            </a:r>
          </a:p>
          <a:p>
            <a:pPr>
              <a:lnSpc>
                <a:spcPct val="100000"/>
              </a:lnSpc>
            </a:pPr>
            <a:r>
              <a:rPr lang="en-GB" dirty="0"/>
              <a:t>Restaurants, bars, cafes, …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878BB0-88A4-2DB2-1EC4-C213E23DD8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313" y="6329811"/>
            <a:ext cx="1370340" cy="5281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A9BFA6A-9A63-4E2D-92C0-C77BFA750EDB}" type="datetime1">
              <a:rPr lang="de-DE" noProof="0" smtClean="0"/>
              <a:pPr>
                <a:spcAft>
                  <a:spcPts val="600"/>
                </a:spcAft>
              </a:pPr>
              <a:t>24.07.2025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390CD4-FBE5-934D-D984-20B77F2E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000" y="6329811"/>
            <a:ext cx="435157" cy="5281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696EC4-B4CF-4701-AD06-A8439D6D8E12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291C286-3582-D754-2A9B-8D3A59AB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00" y="394871"/>
            <a:ext cx="9158904" cy="767748"/>
          </a:xfrm>
        </p:spPr>
        <p:txBody>
          <a:bodyPr anchor="b">
            <a:normAutofit/>
          </a:bodyPr>
          <a:lstStyle/>
          <a:p>
            <a:r>
              <a:rPr lang="de-DE" dirty="0"/>
              <a:t>Database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95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platzhalter 12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23702D6E-3667-ADA6-B0F3-D748B9216A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r="3384"/>
          <a:stretch>
            <a:fillRect/>
          </a:stretch>
        </p:blipFill>
        <p:spPr>
          <a:xfrm>
            <a:off x="6019800" y="1583510"/>
            <a:ext cx="1812925" cy="4321175"/>
          </a:xfr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27C221-5941-369E-385F-0929C1D872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Visualization of map tiles using OSM/Leaflet</a:t>
            </a:r>
          </a:p>
          <a:p>
            <a:pPr>
              <a:lnSpc>
                <a:spcPct val="100000"/>
              </a:lnSpc>
            </a:pPr>
            <a:r>
              <a:rPr lang="en-GB" dirty="0"/>
              <a:t>Zoom in &amp; out</a:t>
            </a:r>
          </a:p>
          <a:p>
            <a:pPr>
              <a:lnSpc>
                <a:spcPct val="100000"/>
              </a:lnSpc>
            </a:pPr>
            <a:r>
              <a:rPr lang="en-GB" dirty="0"/>
              <a:t>Information about current position</a:t>
            </a:r>
          </a:p>
          <a:p>
            <a:pPr>
              <a:lnSpc>
                <a:spcPct val="100000"/>
              </a:lnSpc>
            </a:pPr>
            <a:r>
              <a:rPr lang="en-GB" dirty="0"/>
              <a:t>Legend, filter by category</a:t>
            </a:r>
          </a:p>
          <a:p>
            <a:pPr>
              <a:lnSpc>
                <a:spcPct val="100000"/>
              </a:lnSpc>
            </a:pPr>
            <a:r>
              <a:rPr lang="en-GB" dirty="0"/>
              <a:t>Information about points of interest at KIT campus</a:t>
            </a:r>
          </a:p>
          <a:p>
            <a:pPr>
              <a:lnSpc>
                <a:spcPct val="100000"/>
              </a:lnSpc>
            </a:pPr>
            <a:r>
              <a:rPr lang="en-GB" dirty="0"/>
              <a:t>Routing to POI at the KIT campus</a:t>
            </a:r>
          </a:p>
          <a:p>
            <a:pPr>
              <a:lnSpc>
                <a:spcPct val="100000"/>
              </a:lnSpc>
            </a:pPr>
            <a:r>
              <a:rPr lang="en-GB" dirty="0"/>
              <a:t>Button to get back to campus</a:t>
            </a:r>
          </a:p>
          <a:p>
            <a:pPr>
              <a:lnSpc>
                <a:spcPct val="100000"/>
              </a:lnSpc>
            </a:pPr>
            <a:r>
              <a:rPr lang="en-GB" dirty="0"/>
              <a:t>Weather API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19A9A1-A2EF-052A-D7B4-EF3DA127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179C-E631-47AA-B9CB-ABFD8F596650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AEEF25-E1CB-1110-C0C5-3EEFD776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6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FD4F75-3D56-A9F9-EBD5-2681A1C4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 </a:t>
            </a:r>
            <a:r>
              <a:rPr lang="de-DE" dirty="0" err="1"/>
              <a:t>features</a:t>
            </a:r>
            <a:endParaRPr lang="en-GB" dirty="0"/>
          </a:p>
        </p:txBody>
      </p:sp>
      <p:pic>
        <p:nvPicPr>
          <p:cNvPr id="14" name="Bildplatzhalter 9" descr="Ein Bild, das Text, Screenshot, Karte, Software enthält.&#10;&#10;KI-generierte Inhalte können fehlerhaft sein.">
            <a:extLst>
              <a:ext uri="{FF2B5EF4-FFF2-40B4-BE49-F238E27FC236}">
                <a16:creationId xmlns:a16="http://schemas.microsoft.com/office/drawing/2014/main" id="{0B551878-ADBA-1189-97AA-62EADA0CB9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r="3384"/>
          <a:stretch>
            <a:fillRect/>
          </a:stretch>
        </p:blipFill>
        <p:spPr>
          <a:xfrm>
            <a:off x="7932737" y="1583510"/>
            <a:ext cx="1812925" cy="4321175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</p:pic>
      <p:pic>
        <p:nvPicPr>
          <p:cNvPr id="15" name="Bildplatzhalter 7" descr="Ein Bild, das Text, Software, Computersymbol, Betriebssystem enthält.&#10;&#10;KI-generierte Inhalte können fehlerhaft sein.">
            <a:extLst>
              <a:ext uri="{FF2B5EF4-FFF2-40B4-BE49-F238E27FC236}">
                <a16:creationId xmlns:a16="http://schemas.microsoft.com/office/drawing/2014/main" id="{1BBE401A-2730-5181-F4D2-3EBBB87BAD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" r="3384"/>
          <a:stretch>
            <a:fillRect/>
          </a:stretch>
        </p:blipFill>
        <p:spPr>
          <a:xfrm>
            <a:off x="9845675" y="1583512"/>
            <a:ext cx="1812925" cy="4321175"/>
          </a:xfrm>
          <a:prstGeom prst="round2DiagRect">
            <a:avLst>
              <a:gd name="adj1" fmla="val 0"/>
              <a:gd name="adj2" fmla="val 8317"/>
            </a:avLst>
          </a:prstGeom>
          <a:solidFill>
            <a:srgbClr val="FF99FF"/>
          </a:solidFill>
          <a:ln w="12700">
            <a:solidFill>
              <a:schemeClr val="bg2"/>
            </a:solidFill>
          </a:ln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541B84E2-EFF5-147E-1BCA-F457BC522BDA}"/>
              </a:ext>
            </a:extLst>
          </p:cNvPr>
          <p:cNvSpPr/>
          <p:nvPr/>
        </p:nvSpPr>
        <p:spPr>
          <a:xfrm>
            <a:off x="5981699" y="1774825"/>
            <a:ext cx="216000" cy="5232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F7906C4-B512-0398-27B3-F845CCCD34FD}"/>
              </a:ext>
            </a:extLst>
          </p:cNvPr>
          <p:cNvSpPr/>
          <p:nvPr/>
        </p:nvSpPr>
        <p:spPr>
          <a:xfrm>
            <a:off x="5981699" y="2298059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E89E240-2D6B-3C19-0642-6A62BD742AA5}"/>
              </a:ext>
            </a:extLst>
          </p:cNvPr>
          <p:cNvSpPr/>
          <p:nvPr/>
        </p:nvSpPr>
        <p:spPr>
          <a:xfrm>
            <a:off x="7649322" y="1780382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4183C5E-A676-C508-4266-7E73DC3CABA7}"/>
              </a:ext>
            </a:extLst>
          </p:cNvPr>
          <p:cNvSpPr/>
          <p:nvPr/>
        </p:nvSpPr>
        <p:spPr>
          <a:xfrm>
            <a:off x="7649322" y="2002039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3F469D4-2861-A014-5886-EB992EEF58EB}"/>
              </a:ext>
            </a:extLst>
          </p:cNvPr>
          <p:cNvSpPr/>
          <p:nvPr/>
        </p:nvSpPr>
        <p:spPr>
          <a:xfrm>
            <a:off x="8766175" y="4160197"/>
            <a:ext cx="1009650" cy="1396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91D0AAF-264C-93DB-6D7D-C752CEA70A1E}"/>
              </a:ext>
            </a:extLst>
          </p:cNvPr>
          <p:cNvSpPr/>
          <p:nvPr/>
        </p:nvSpPr>
        <p:spPr>
          <a:xfrm>
            <a:off x="8794749" y="2530475"/>
            <a:ext cx="892155" cy="790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749A481-E744-EA16-3C42-B7C3AD33E854}"/>
              </a:ext>
            </a:extLst>
          </p:cNvPr>
          <p:cNvSpPr/>
          <p:nvPr/>
        </p:nvSpPr>
        <p:spPr>
          <a:xfrm>
            <a:off x="8794749" y="3321051"/>
            <a:ext cx="892155" cy="2349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5A5F3E4-F1BA-E3E1-B2E8-37890513E269}"/>
              </a:ext>
            </a:extLst>
          </p:cNvPr>
          <p:cNvSpPr/>
          <p:nvPr/>
        </p:nvSpPr>
        <p:spPr>
          <a:xfrm>
            <a:off x="9564587" y="2219134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CD32D50-D4FB-9BB8-31CB-241693774106}"/>
              </a:ext>
            </a:extLst>
          </p:cNvPr>
          <p:cNvSpPr/>
          <p:nvPr/>
        </p:nvSpPr>
        <p:spPr>
          <a:xfrm>
            <a:off x="11475197" y="2435134"/>
            <a:ext cx="21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5962AF8-F9C3-5D79-09B2-6972C5AB37BA}"/>
              </a:ext>
            </a:extLst>
          </p:cNvPr>
          <p:cNvSpPr/>
          <p:nvPr/>
        </p:nvSpPr>
        <p:spPr>
          <a:xfrm>
            <a:off x="9967913" y="2925762"/>
            <a:ext cx="1571625" cy="15652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74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573E66-4FBF-9071-9AF1-5B318E8A6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83512"/>
            <a:ext cx="7750865" cy="4486472"/>
          </a:xfrm>
        </p:spPr>
        <p:txBody>
          <a:bodyPr/>
          <a:lstStyle/>
          <a:p>
            <a:r>
              <a:rPr lang="en-US" dirty="0"/>
              <a:t>Cross-Origin Resource Sharing (CORS) Settings on WFS-Server</a:t>
            </a:r>
          </a:p>
          <a:p>
            <a:r>
              <a:rPr lang="en-US" dirty="0"/>
              <a:t>Fetching Files in JavaScript on iOS</a:t>
            </a:r>
          </a:p>
          <a:p>
            <a:r>
              <a:rPr lang="en-US" dirty="0"/>
              <a:t>Getting the Geolocation on iOS</a:t>
            </a:r>
          </a:p>
          <a:p>
            <a:r>
              <a:rPr lang="en-US" dirty="0"/>
              <a:t>UI experience when requesting location access inside a WebView on iOS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BD6EA-2D41-EC43-2BE1-EFA02B88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24.07.2025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B7A8-C5B4-2A90-C05B-32325271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7</a:t>
            </a:fld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621F79-81AD-88CC-B665-0B970D42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</a:t>
            </a:r>
          </a:p>
        </p:txBody>
      </p:sp>
      <p:pic>
        <p:nvPicPr>
          <p:cNvPr id="7" name="Picture 6" descr="A screen shot of a phone&#10;&#10;AI-generated content may be incorrect.">
            <a:extLst>
              <a:ext uri="{FF2B5EF4-FFF2-40B4-BE49-F238E27FC236}">
                <a16:creationId xmlns:a16="http://schemas.microsoft.com/office/drawing/2014/main" id="{AE70A893-7807-E0DA-ECB4-61428E4B31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552" y="1162619"/>
            <a:ext cx="2934048" cy="510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6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030A9-E8E8-B72E-F90F-B0D8FB74E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399" y="1583512"/>
            <a:ext cx="9928123" cy="459345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de-DE" dirty="0"/>
              <a:t>Hybrid web </a:t>
            </a:r>
            <a:r>
              <a:rPr lang="de-DE" dirty="0" err="1"/>
              <a:t>app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exploring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KIT </a:t>
            </a:r>
            <a:r>
              <a:rPr lang="de-DE" dirty="0" err="1"/>
              <a:t>campus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Easy </a:t>
            </a:r>
            <a:r>
              <a:rPr lang="de-DE" dirty="0" err="1"/>
              <a:t>search</a:t>
            </a:r>
            <a:r>
              <a:rPr lang="de-DE" dirty="0"/>
              <a:t> &amp; </a:t>
            </a:r>
            <a:r>
              <a:rPr lang="de-DE" dirty="0" err="1"/>
              <a:t>navigation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buildings</a:t>
            </a:r>
            <a:r>
              <a:rPr lang="de-DE" dirty="0"/>
              <a:t>, </a:t>
            </a:r>
            <a:r>
              <a:rPr lang="de-DE" dirty="0" err="1"/>
              <a:t>monuments</a:t>
            </a:r>
            <a:r>
              <a:rPr lang="de-DE" dirty="0"/>
              <a:t> &amp; </a:t>
            </a:r>
            <a:r>
              <a:rPr lang="de-DE" dirty="0" err="1"/>
              <a:t>dining</a:t>
            </a:r>
            <a:r>
              <a:rPr lang="de-DE" dirty="0"/>
              <a:t> </a:t>
            </a:r>
            <a:r>
              <a:rPr lang="de-DE" dirty="0" err="1"/>
              <a:t>options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Real-time </a:t>
            </a:r>
            <a:r>
              <a:rPr lang="de-DE" dirty="0" err="1"/>
              <a:t>information</a:t>
            </a:r>
            <a:r>
              <a:rPr lang="de-DE" dirty="0"/>
              <a:t> on </a:t>
            </a:r>
            <a:r>
              <a:rPr lang="de-DE" dirty="0" err="1"/>
              <a:t>weather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Interactive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filtering</a:t>
            </a:r>
            <a:r>
              <a:rPr lang="de-DE" dirty="0"/>
              <a:t>, zoom, and </a:t>
            </a:r>
            <a:r>
              <a:rPr lang="de-DE" dirty="0" err="1"/>
              <a:t>routing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Integration </a:t>
            </a:r>
            <a:r>
              <a:rPr lang="de-DE" dirty="0" err="1"/>
              <a:t>of</a:t>
            </a:r>
            <a:r>
              <a:rPr lang="de-DE" dirty="0"/>
              <a:t> open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Apache Cordova and </a:t>
            </a:r>
            <a:r>
              <a:rPr lang="de-DE" dirty="0" err="1"/>
              <a:t>Leaflet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Cross-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usability</a:t>
            </a:r>
            <a:r>
              <a:rPr lang="de-DE" dirty="0"/>
              <a:t> (iOS, Android, web </a:t>
            </a:r>
            <a:r>
              <a:rPr lang="de-DE" dirty="0" err="1"/>
              <a:t>browsers</a:t>
            </a:r>
            <a:r>
              <a:rPr lang="de-DE" dirty="0"/>
              <a:t>)</a:t>
            </a:r>
          </a:p>
          <a:p>
            <a:pPr>
              <a:lnSpc>
                <a:spcPct val="120000"/>
              </a:lnSpc>
            </a:pPr>
            <a:r>
              <a:rPr lang="de-DE" dirty="0"/>
              <a:t>Check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browser</a:t>
            </a:r>
            <a:r>
              <a:rPr lang="de-DE" dirty="0"/>
              <a:t> </a:t>
            </a:r>
            <a:r>
              <a:rPr lang="de-DE" dirty="0" err="1"/>
              <a:t>preview</a:t>
            </a:r>
            <a:r>
              <a:rPr lang="de-DE" dirty="0"/>
              <a:t>: </a:t>
            </a:r>
            <a:r>
              <a:rPr lang="de-DE" dirty="0">
                <a:hlinkClick r:id="rId3"/>
              </a:rPr>
              <a:t>https://20korvin01.github.io/www/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0B1A7B-592A-0AC7-69AC-7F80A6C1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179C-E631-47AA-B9CB-ABFD8F596650}" type="datetime1">
              <a:rPr lang="de-DE" smtClean="0"/>
              <a:t>24.07.2025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C4DB52-CD83-5FA3-4F49-56174BB5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de-DE" smtClean="0"/>
              <a:t>8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A78817F-33CC-B772-7ABE-84ABBA43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  <a:endParaRPr lang="en-GB" dirty="0"/>
          </a:p>
        </p:txBody>
      </p:sp>
      <p:pic>
        <p:nvPicPr>
          <p:cNvPr id="10" name="Grafik 9" descr="Ein Bild, das Muster, Design, Grafiken, Quadrat enthält.&#10;&#10;KI-generierte Inhalte können fehlerhaft sein.">
            <a:extLst>
              <a:ext uri="{FF2B5EF4-FFF2-40B4-BE49-F238E27FC236}">
                <a16:creationId xmlns:a16="http://schemas.microsoft.com/office/drawing/2014/main" id="{3F919E8D-8568-905B-CA0A-15B470253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1" t="7217" r="7975" b="8609"/>
          <a:stretch>
            <a:fillRect/>
          </a:stretch>
        </p:blipFill>
        <p:spPr>
          <a:xfrm>
            <a:off x="9258887" y="2673625"/>
            <a:ext cx="2405269" cy="24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6BD22B9-2BF4-7382-7D7B-E609C9E0C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Cordova: </a:t>
            </a:r>
            <a:r>
              <a:rPr lang="de-DE" dirty="0">
                <a:hlinkClick r:id="rId2"/>
              </a:rPr>
              <a:t>https://cordova.apache.org/docs/en/12.x-2025.01/guide/overview/index.html</a:t>
            </a:r>
            <a:endParaRPr lang="de-DE" dirty="0"/>
          </a:p>
          <a:p>
            <a:pPr>
              <a:lnSpc>
                <a:spcPct val="100000"/>
              </a:lnSpc>
            </a:pPr>
            <a:r>
              <a:rPr lang="de-DE" dirty="0"/>
              <a:t>Android Studio: </a:t>
            </a:r>
            <a:r>
              <a:rPr lang="de-DE" dirty="0">
                <a:hlinkClick r:id="rId3"/>
              </a:rPr>
              <a:t>https://developer.android.com/studio?hl=de</a:t>
            </a:r>
            <a:endParaRPr lang="de-DE" dirty="0"/>
          </a:p>
          <a:p>
            <a:pPr>
              <a:lnSpc>
                <a:spcPct val="100000"/>
              </a:lnSpc>
            </a:pPr>
            <a:r>
              <a:rPr lang="en-GB" dirty="0" err="1"/>
              <a:t>Mapbox</a:t>
            </a:r>
            <a:r>
              <a:rPr lang="en-GB" dirty="0"/>
              <a:t>: </a:t>
            </a:r>
            <a:r>
              <a:rPr lang="en-GB" dirty="0">
                <a:hlinkClick r:id="rId4"/>
              </a:rPr>
              <a:t>https://www.mapbox.com/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Leaflet: </a:t>
            </a:r>
            <a:r>
              <a:rPr lang="en-GB" dirty="0">
                <a:hlinkClick r:id="rId5"/>
              </a:rPr>
              <a:t>https://leafletjs.com/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OpenStreetMap: </a:t>
            </a:r>
            <a:r>
              <a:rPr lang="en-GB" dirty="0">
                <a:hlinkClick r:id="rId6"/>
              </a:rPr>
              <a:t>https://www.openstreetmap.org/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Overpass Turbo: </a:t>
            </a:r>
            <a:r>
              <a:rPr lang="en-GB" dirty="0">
                <a:hlinkClick r:id="rId7"/>
              </a:rPr>
              <a:t>https://overpass-turbo.eu/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Open-</a:t>
            </a:r>
            <a:r>
              <a:rPr lang="en-GB" dirty="0" err="1"/>
              <a:t>Meteo</a:t>
            </a:r>
            <a:r>
              <a:rPr lang="en-GB" dirty="0"/>
              <a:t>: </a:t>
            </a:r>
            <a:r>
              <a:rPr lang="en-GB" dirty="0">
                <a:hlinkClick r:id="rId8"/>
              </a:rPr>
              <a:t>https://open-meteo.com/</a:t>
            </a:r>
            <a:endParaRPr lang="en-GB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2B6334-75E6-E0EF-A61C-2109AA7C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FA6A-9A63-4E2D-92C0-C77BFA750EDB}" type="datetime1">
              <a:rPr lang="de-DE" noProof="0" smtClean="0"/>
              <a:t>24.07.2025</a:t>
            </a:fld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E88A70-8B3E-F49A-A5EE-96EA5ABC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6EC4-B4CF-4701-AD06-A8439D6D8E12}" type="slidenum">
              <a:rPr lang="en-US" noProof="0" smtClean="0"/>
              <a:t>9</a:t>
            </a:fld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4F4257C-2C69-5083-EE9A-3598FD1E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5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40267" y="1348141"/>
            <a:ext cx="11232444" cy="2387600"/>
          </a:xfrm>
        </p:spPr>
        <p:txBody>
          <a:bodyPr/>
          <a:lstStyle/>
          <a:p>
            <a:pPr algn="l"/>
            <a:r>
              <a:rPr lang="de-DE" dirty="0"/>
              <a:t>Mobile GIS and LBS – </a:t>
            </a:r>
            <a:br>
              <a:rPr lang="de-DE" dirty="0"/>
            </a:br>
            <a:r>
              <a:rPr lang="de-DE" dirty="0"/>
              <a:t>KIT Campus App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40267" y="3820137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sz="2200" dirty="0"/>
              <a:t>Korvin Brecht; Jasmin Jährling; Elisabeth Kral;</a:t>
            </a:r>
            <a:r>
              <a:rPr lang="de-DE" sz="2200" dirty="0"/>
              <a:t> Merlin </a:t>
            </a:r>
            <a:r>
              <a:rPr lang="de-DE" sz="2200" dirty="0" err="1"/>
              <a:t>Pillich</a:t>
            </a:r>
            <a:endParaRPr lang="de-DE" sz="2200" dirty="0"/>
          </a:p>
          <a:p>
            <a:pPr algn="l"/>
            <a:r>
              <a:rPr lang="de-DE" sz="2200" dirty="0"/>
              <a:t>Mobile GIS &amp; LBS 2025 - Dr.-Ing. Paul Vincent Kuper</a:t>
            </a:r>
          </a:p>
          <a:p>
            <a:pPr algn="l"/>
            <a:endParaRPr lang="en-US" dirty="0">
              <a:hlinkClick r:id="rId2"/>
            </a:endParaRPr>
          </a:p>
          <a:p>
            <a:endParaRPr lang="de-DE" dirty="0"/>
          </a:p>
        </p:txBody>
      </p:sp>
      <p:pic>
        <p:nvPicPr>
          <p:cNvPr id="5" name="Grafik 4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51" y="402431"/>
            <a:ext cx="2748616" cy="1255713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333252" y="6393756"/>
            <a:ext cx="4001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KIT – Die Forschungsuniversität der Helmholtz-Gemeinschaft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3" name="Freeform: Shap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e-DE" sz="4000" u="sng" dirty="0"/>
              <a:t>Gliederung</a:t>
            </a:r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96695" y="653542"/>
            <a:ext cx="6027211" cy="5537581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de-DE" sz="2400" dirty="0"/>
              <a:t>App </a:t>
            </a:r>
            <a:r>
              <a:rPr lang="de-DE" sz="2400" dirty="0" err="1"/>
              <a:t>idea</a:t>
            </a:r>
            <a:endParaRPr lang="de-DE" sz="2400" dirty="0"/>
          </a:p>
          <a:p>
            <a:pPr marL="514350" indent="-514350">
              <a:buAutoNum type="arabicPeriod"/>
            </a:pPr>
            <a:r>
              <a:rPr lang="de-DE" sz="2400" dirty="0"/>
              <a:t>General Information </a:t>
            </a:r>
          </a:p>
          <a:p>
            <a:pPr marL="514350" indent="-514350">
              <a:buAutoNum type="arabicPeriod"/>
            </a:pPr>
            <a:r>
              <a:rPr lang="de-DE" sz="2400" dirty="0"/>
              <a:t>Database</a:t>
            </a:r>
          </a:p>
          <a:p>
            <a:pPr marL="514350" indent="-514350">
              <a:buAutoNum type="arabicPeriod"/>
            </a:pPr>
            <a:r>
              <a:rPr lang="de-DE" sz="2400" dirty="0"/>
              <a:t>App Features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Summary</a:t>
            </a:r>
            <a:endParaRPr lang="de-DE" sz="2000" dirty="0"/>
          </a:p>
        </p:txBody>
      </p:sp>
      <p:sp>
        <p:nvSpPr>
          <p:cNvPr id="7" name="Rechteck 6"/>
          <p:cNvSpPr/>
          <p:nvPr/>
        </p:nvSpPr>
        <p:spPr>
          <a:xfrm>
            <a:off x="0" y="2867025"/>
            <a:ext cx="257175" cy="1200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269246" y="6341998"/>
            <a:ext cx="100243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152D26F-D91F-4BDA-B7C2-0B45ED53E507}" type="slidenum">
              <a:rPr lang="de-DE">
                <a:solidFill>
                  <a:schemeClr val="tx1"/>
                </a:solidFill>
              </a:rPr>
              <a:t>11</a:t>
            </a:fld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333251" y="6393756"/>
            <a:ext cx="68184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KIT – Die Forschungsuniversität der Helmholtz-Gemeinschaft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4062" y="75790"/>
            <a:ext cx="10515600" cy="1325563"/>
          </a:xfrm>
        </p:spPr>
        <p:txBody>
          <a:bodyPr/>
          <a:lstStyle/>
          <a:p>
            <a:r>
              <a:rPr lang="de-DE" dirty="0"/>
              <a:t>1. App </a:t>
            </a:r>
            <a:r>
              <a:rPr lang="de-DE" dirty="0" err="1"/>
              <a:t>idea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12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/>
          <p:nvPr/>
        </p:nvCxnSpPr>
        <p:spPr>
          <a:xfrm>
            <a:off x="364062" y="1028529"/>
            <a:ext cx="1146669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>
          <a:xfrm>
            <a:off x="333251" y="1456444"/>
            <a:ext cx="111110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Create an App to…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explore the KIT Campus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easily find places to eat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know where buildings of interest are</a:t>
            </a:r>
            <a:endParaRPr lang="de-DE" sz="24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learn more about monuments, memorials, squares,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4062" y="75790"/>
            <a:ext cx="10515600" cy="1325563"/>
          </a:xfrm>
        </p:spPr>
        <p:txBody>
          <a:bodyPr/>
          <a:lstStyle/>
          <a:p>
            <a:r>
              <a:rPr lang="de-DE" dirty="0"/>
              <a:t>2. General Information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13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/>
          <p:nvPr/>
        </p:nvCxnSpPr>
        <p:spPr>
          <a:xfrm>
            <a:off x="364062" y="1028529"/>
            <a:ext cx="1146669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sp>
        <p:nvSpPr>
          <p:cNvPr id="9" name="Inhaltsplatzhalter 8"/>
          <p:cNvSpPr>
            <a:spLocks noGrp="1"/>
          </p:cNvSpPr>
          <p:nvPr>
            <p:ph idx="1"/>
          </p:nvPr>
        </p:nvSpPr>
        <p:spPr>
          <a:xfrm>
            <a:off x="452964" y="1921446"/>
            <a:ext cx="11286071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Development of a hybrid web application for mobile devices</a:t>
            </a:r>
          </a:p>
          <a:p>
            <a:pPr marL="285750" indent="-285750"/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Used Software (Open Source): Apache Cordova</a:t>
            </a:r>
          </a:p>
          <a:p>
            <a:pPr marL="285750" indent="-285750"/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Files: JavaScript, </a:t>
            </a:r>
            <a:r>
              <a:rPr lang="en-US" sz="2400" dirty="0" err="1">
                <a:ea typeface="Aptos" panose="020B0004020202020204" pitchFamily="34" charset="0"/>
                <a:cs typeface="Times New Roman" panose="02020603050405020304" pitchFamily="18" charset="0"/>
              </a:rPr>
              <a:t>GeoJSON</a:t>
            </a:r>
            <a:r>
              <a:rPr lang="en-US" sz="2400" dirty="0">
                <a:ea typeface="Aptos" panose="020B0004020202020204" pitchFamily="34" charset="0"/>
                <a:cs typeface="Times New Roman" panose="02020603050405020304" pitchFamily="18" charset="0"/>
              </a:rPr>
              <a:t>, CSS</a:t>
            </a:r>
          </a:p>
          <a:p>
            <a:endParaRPr lang="de-DE" sz="1800" dirty="0"/>
          </a:p>
          <a:p>
            <a:endParaRPr lang="de-DE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728" y="75790"/>
            <a:ext cx="10684934" cy="1325563"/>
          </a:xfrm>
        </p:spPr>
        <p:txBody>
          <a:bodyPr/>
          <a:lstStyle/>
          <a:p>
            <a:r>
              <a:rPr lang="de-DE" dirty="0"/>
              <a:t>3. Database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14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/>
          <p:nvPr/>
        </p:nvCxnSpPr>
        <p:spPr>
          <a:xfrm>
            <a:off x="194728" y="1028529"/>
            <a:ext cx="1163602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A70D745-882B-1FB4-7181-A490A6BEE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949" y="1157347"/>
            <a:ext cx="6391301" cy="5023195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B8F469C-6BA0-B1AC-8DFE-D18F434B17EF}"/>
              </a:ext>
            </a:extLst>
          </p:cNvPr>
          <p:cNvSpPr txBox="1"/>
          <p:nvPr/>
        </p:nvSpPr>
        <p:spPr>
          <a:xfrm>
            <a:off x="385750" y="1951468"/>
            <a:ext cx="48309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Querying individual information in Overpass </a:t>
            </a:r>
          </a:p>
          <a:p>
            <a:r>
              <a:rPr lang="en-US" sz="2000" dirty="0"/>
              <a:t>about…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buildings (university, office,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parking places for cars &amp; bicycles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/>
              <a:t>parks</a:t>
            </a:r>
            <a:r>
              <a:rPr lang="de-DE" sz="2000" dirty="0"/>
              <a:t> and </a:t>
            </a:r>
            <a:r>
              <a:rPr lang="de-DE" sz="2000" dirty="0" err="1"/>
              <a:t>grassy</a:t>
            </a:r>
            <a:r>
              <a:rPr lang="de-DE" sz="2000" dirty="0"/>
              <a:t> </a:t>
            </a:r>
            <a:r>
              <a:rPr lang="de-DE" sz="2000" dirty="0" err="1"/>
              <a:t>areas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/>
              <a:t>public</a:t>
            </a:r>
            <a:r>
              <a:rPr lang="de-DE" sz="2000" dirty="0"/>
              <a:t> </a:t>
            </a:r>
            <a:r>
              <a:rPr lang="de-DE" sz="2000" dirty="0" err="1"/>
              <a:t>transport</a:t>
            </a:r>
            <a:r>
              <a:rPr lang="de-DE" sz="2000" dirty="0"/>
              <a:t> </a:t>
            </a:r>
            <a:r>
              <a:rPr lang="de-DE" sz="2000" dirty="0" err="1"/>
              <a:t>stops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/>
              <a:t>monuments</a:t>
            </a:r>
            <a:r>
              <a:rPr lang="de-DE" sz="2000" dirty="0"/>
              <a:t>/</a:t>
            </a:r>
            <a:r>
              <a:rPr lang="de-DE" sz="2000" dirty="0" err="1"/>
              <a:t>memorials</a:t>
            </a:r>
            <a:endParaRPr lang="de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Squares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 err="1"/>
              <a:t>restaurants</a:t>
            </a:r>
            <a:r>
              <a:rPr lang="de-DE" sz="2000" dirty="0"/>
              <a:t>, </a:t>
            </a:r>
            <a:r>
              <a:rPr lang="de-DE" sz="2000" dirty="0" err="1"/>
              <a:t>bars</a:t>
            </a:r>
            <a:r>
              <a:rPr lang="de-DE" sz="2000" dirty="0"/>
              <a:t>, </a:t>
            </a:r>
            <a:r>
              <a:rPr lang="de-DE" sz="2000" dirty="0" err="1"/>
              <a:t>cafes</a:t>
            </a:r>
            <a:r>
              <a:rPr lang="de-DE" sz="2000" dirty="0"/>
              <a:t>, 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4062" y="75790"/>
            <a:ext cx="10515600" cy="1325563"/>
          </a:xfrm>
        </p:spPr>
        <p:txBody>
          <a:bodyPr/>
          <a:lstStyle/>
          <a:p>
            <a:r>
              <a:rPr lang="de-DE" dirty="0"/>
              <a:t>4. App Features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15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>
            <a:cxnSpLocks/>
          </p:cNvCxnSpPr>
          <p:nvPr/>
        </p:nvCxnSpPr>
        <p:spPr>
          <a:xfrm>
            <a:off x="364062" y="1028529"/>
            <a:ext cx="3692783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24D352F-06F6-5359-391E-ABC65DBD95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963" y="75790"/>
            <a:ext cx="2833014" cy="616186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FDE9576-EA24-E8AF-DF97-DB8FA579EA5B}"/>
              </a:ext>
            </a:extLst>
          </p:cNvPr>
          <p:cNvSpPr txBox="1"/>
          <p:nvPr/>
        </p:nvSpPr>
        <p:spPr>
          <a:xfrm>
            <a:off x="412554" y="1797784"/>
            <a:ext cx="67074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Visualization of map tiles - OSM/Leaflet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Zoom in &amp; 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Feature to always go back to the campus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of the location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Weather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Information about points of interest at the KIT campus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Routing to specific places at the KIT campus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4062" y="75790"/>
            <a:ext cx="10515600" cy="1325563"/>
          </a:xfrm>
        </p:spPr>
        <p:txBody>
          <a:bodyPr/>
          <a:lstStyle/>
          <a:p>
            <a:r>
              <a:rPr lang="de-DE" dirty="0"/>
              <a:t>5. Summary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16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/>
          <p:nvPr/>
        </p:nvCxnSpPr>
        <p:spPr>
          <a:xfrm>
            <a:off x="364062" y="1028529"/>
            <a:ext cx="1146669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sp>
        <p:nvSpPr>
          <p:cNvPr id="9" name="Inhaltsplatzhalter 8"/>
          <p:cNvSpPr>
            <a:spLocks noGrp="1"/>
          </p:cNvSpPr>
          <p:nvPr>
            <p:ph idx="1"/>
          </p:nvPr>
        </p:nvSpPr>
        <p:spPr>
          <a:xfrm>
            <a:off x="466725" y="1253331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de-DE" sz="1800" dirty="0" err="1"/>
              <a:t>mip</a:t>
            </a:r>
            <a:endParaRPr lang="de-DE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333251" y="6309360"/>
            <a:ext cx="11339460" cy="430403"/>
          </a:xfrm>
          <a:prstGeom prst="rect">
            <a:avLst/>
          </a:prstGeom>
          <a:solidFill>
            <a:srgbClr val="32A18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4062" y="75790"/>
            <a:ext cx="10515600" cy="1325563"/>
          </a:xfrm>
        </p:spPr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4062" y="6356350"/>
            <a:ext cx="2743200" cy="365125"/>
          </a:xfrm>
        </p:spPr>
        <p:txBody>
          <a:bodyPr/>
          <a:lstStyle/>
          <a:p>
            <a:r>
              <a:rPr lang="de-DE" sz="1100">
                <a:solidFill>
                  <a:schemeClr val="tx1"/>
                </a:solidFill>
              </a:rPr>
              <a:t>01.07.2025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405649" y="6338062"/>
            <a:ext cx="5380703" cy="365125"/>
          </a:xfrm>
        </p:spPr>
        <p:txBody>
          <a:bodyPr/>
          <a:lstStyle/>
          <a:p>
            <a:r>
              <a:rPr lang="sv-SE" sz="1100">
                <a:solidFill>
                  <a:schemeClr val="tx1"/>
                </a:solidFill>
              </a:rPr>
              <a:t>Mobile GIS and LBS - Dr.-Ing. Paul Vincent Kuper  Korvin Brecht; Jasmin Jährling; Elisabeth Kral; Merlin Pillich 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2D26F-D91F-4BDA-B7C2-0B45ED53E507}" type="slidenum">
              <a:rPr lang="de-DE" smtClean="0">
                <a:solidFill>
                  <a:schemeClr val="tx1"/>
                </a:solidFill>
              </a:rPr>
              <a:t>17</a:t>
            </a:fld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3" name="Gerader Verbinder 12"/>
          <p:cNvCxnSpPr/>
          <p:nvPr/>
        </p:nvCxnSpPr>
        <p:spPr>
          <a:xfrm>
            <a:off x="364062" y="1028529"/>
            <a:ext cx="1146669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Schrift, Text, Grafiken, Logo enthält.&#10;&#10;KI-generierte Inhalte können fehlerhaft sein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845" y="118237"/>
            <a:ext cx="1882427" cy="859992"/>
          </a:xfrm>
          <a:prstGeom prst="rect">
            <a:avLst/>
          </a:prstGeom>
        </p:spPr>
      </p:pic>
      <p:sp>
        <p:nvSpPr>
          <p:cNvPr id="9" name="Inhaltsplatzhalter 8"/>
          <p:cNvSpPr>
            <a:spLocks noGrp="1"/>
          </p:cNvSpPr>
          <p:nvPr>
            <p:ph idx="1"/>
          </p:nvPr>
        </p:nvSpPr>
        <p:spPr>
          <a:xfrm>
            <a:off x="466725" y="1253331"/>
            <a:ext cx="10515600" cy="4351338"/>
          </a:xfrm>
        </p:spPr>
        <p:txBody>
          <a:bodyPr>
            <a:normAutofit/>
          </a:bodyPr>
          <a:lstStyle/>
          <a:p>
            <a:pPr algn="just"/>
            <a:endParaRPr lang="de-DE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olienmaster_Fächer">
  <a:themeElements>
    <a:clrScheme name="KIT FARBEN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4664AA"/>
      </a:accent1>
      <a:accent2>
        <a:srgbClr val="23A1E0"/>
      </a:accent2>
      <a:accent3>
        <a:srgbClr val="8CB63C"/>
      </a:accent3>
      <a:accent4>
        <a:srgbClr val="A3107C"/>
      </a:accent4>
      <a:accent5>
        <a:srgbClr val="DF9B1B"/>
      </a:accent5>
      <a:accent6>
        <a:srgbClr val="FCE500"/>
      </a:accent6>
      <a:hlink>
        <a:srgbClr val="4664AA"/>
      </a:hlink>
      <a:folHlink>
        <a:srgbClr val="A2222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1" id="{D385F135-4BB1-4144-883F-BD663B3FA4BF}" vid="{9BD07EEE-6672-4655-8F7E-3FE0E154673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763</Words>
  <Application>Microsoft Office PowerPoint</Application>
  <PresentationFormat>Widescreen</PresentationFormat>
  <Paragraphs>149</Paragraphs>
  <Slides>17</Slides>
  <Notes>8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</vt:lpstr>
      <vt:lpstr>Folienmaster_Fächer</vt:lpstr>
      <vt:lpstr>PowerPoint Presentation</vt:lpstr>
      <vt:lpstr>Overview</vt:lpstr>
      <vt:lpstr>App idea</vt:lpstr>
      <vt:lpstr>General information</vt:lpstr>
      <vt:lpstr>Database</vt:lpstr>
      <vt:lpstr>App features</vt:lpstr>
      <vt:lpstr>Difficulties</vt:lpstr>
      <vt:lpstr>Summary</vt:lpstr>
      <vt:lpstr>References</vt:lpstr>
      <vt:lpstr>Mobile GIS and LBS –  KIT Campus App</vt:lpstr>
      <vt:lpstr>Gliederung</vt:lpstr>
      <vt:lpstr>1. App idea</vt:lpstr>
      <vt:lpstr>2. General Information</vt:lpstr>
      <vt:lpstr>3. Database</vt:lpstr>
      <vt:lpstr>4. App Features</vt:lpstr>
      <vt:lpstr>5. 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Übung 1: LIMO &amp; ROS</dc:title>
  <dc:creator>fam.jaehrling@t-online.de</dc:creator>
  <cp:lastModifiedBy>uiegx</cp:lastModifiedBy>
  <cp:revision>170</cp:revision>
  <dcterms:created xsi:type="dcterms:W3CDTF">2024-11-04T10:49:00Z</dcterms:created>
  <dcterms:modified xsi:type="dcterms:W3CDTF">2025-07-24T11:15:00Z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B4AF18DB9A3243659074F27019094ED0_12</vt:lpwstr>
  </property>
  <property fmtid="{D5CDD505-2E9C-101B-9397-08002B2CF9AE}" pid="3" name="KSOProductBuildVer">
    <vt:lpwstr>2052-12.1.0.21541</vt:lpwstr>
  </property>
</Properties>
</file>